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1430000" cy="9645650"/>
  <p:notesSz cx="11430000" cy="9645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81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82600"/>
            <a:ext cx="8481695" cy="72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4" y="1892300"/>
            <a:ext cx="5801360" cy="1306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A698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078" y="22225"/>
            <a:ext cx="4286249" cy="961185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xfrm>
            <a:off x="587374" y="1892300"/>
            <a:ext cx="5801360" cy="1193532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dirty="0"/>
              <a:t>Hospital</a:t>
            </a:r>
            <a:r>
              <a:rPr sz="2000" spc="15" dirty="0"/>
              <a:t> </a:t>
            </a:r>
            <a:r>
              <a:rPr sz="2000" dirty="0"/>
              <a:t>Bed</a:t>
            </a:r>
            <a:r>
              <a:rPr sz="2000" spc="40" dirty="0"/>
              <a:t> </a:t>
            </a:r>
            <a:r>
              <a:rPr sz="2000" spc="-440" dirty="0"/>
              <a:t>/</a:t>
            </a:r>
            <a:r>
              <a:rPr sz="2000" spc="60" dirty="0"/>
              <a:t> </a:t>
            </a:r>
            <a:r>
              <a:rPr sz="2000" spc="155" dirty="0"/>
              <a:t>OR</a:t>
            </a:r>
            <a:r>
              <a:rPr sz="2000" spc="5" dirty="0"/>
              <a:t> </a:t>
            </a:r>
            <a:r>
              <a:rPr sz="2000" spc="-10" dirty="0"/>
              <a:t>Scheduling</a:t>
            </a:r>
          </a:p>
          <a:p>
            <a:pPr marL="12700" marR="465455">
              <a:lnSpc>
                <a:spcPct val="106100"/>
              </a:lnSpc>
              <a:spcBef>
                <a:spcPts val="560"/>
              </a:spcBef>
            </a:pPr>
            <a:r>
              <a:rPr sz="2000" dirty="0"/>
              <a:t>Smart</a:t>
            </a:r>
            <a:r>
              <a:rPr sz="2000" spc="85" dirty="0"/>
              <a:t> </a:t>
            </a:r>
            <a:r>
              <a:rPr sz="2000" dirty="0"/>
              <a:t>Hospital</a:t>
            </a:r>
            <a:r>
              <a:rPr sz="2000" spc="110" dirty="0"/>
              <a:t> </a:t>
            </a:r>
            <a:r>
              <a:rPr sz="2000" dirty="0"/>
              <a:t>Resource</a:t>
            </a:r>
            <a:r>
              <a:rPr sz="2000" spc="110" dirty="0"/>
              <a:t> </a:t>
            </a:r>
            <a:r>
              <a:rPr sz="2000" dirty="0"/>
              <a:t>Management</a:t>
            </a:r>
            <a:r>
              <a:rPr sz="2000" spc="85" dirty="0"/>
              <a:t> </a:t>
            </a:r>
            <a:r>
              <a:rPr sz="2000" dirty="0"/>
              <a:t>and</a:t>
            </a:r>
            <a:r>
              <a:rPr sz="2000" spc="114" dirty="0"/>
              <a:t> </a:t>
            </a:r>
            <a:r>
              <a:rPr sz="2000" spc="-10" dirty="0"/>
              <a:t>Scheduling System</a:t>
            </a:r>
            <a:endParaRPr sz="2000" dirty="0"/>
          </a:p>
        </p:txBody>
      </p:sp>
      <p:sp>
        <p:nvSpPr>
          <p:cNvPr id="9" name="object 9"/>
          <p:cNvSpPr txBox="1"/>
          <p:nvPr/>
        </p:nvSpPr>
        <p:spPr>
          <a:xfrm>
            <a:off x="597610" y="3750736"/>
            <a:ext cx="4724400" cy="2144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6F655C"/>
                </a:solidFill>
                <a:latin typeface="Trebuchet MS"/>
                <a:cs typeface="Trebuchet MS"/>
              </a:rPr>
              <a:t>    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Team</a:t>
            </a:r>
            <a:r>
              <a:rPr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FF0000"/>
                </a:solidFill>
                <a:latin typeface="Trebuchet MS"/>
                <a:cs typeface="Trebuchet MS"/>
              </a:rPr>
              <a:t>Members:</a:t>
            </a:r>
            <a:endParaRPr lang="en-US" spc="-1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</a:pPr>
            <a:endParaRPr lang="en-US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86385" algn="l">
              <a:lnSpc>
                <a:spcPct val="100000"/>
              </a:lnSpc>
            </a:pPr>
            <a:r>
              <a:rPr spc="-80" dirty="0">
                <a:solidFill>
                  <a:srgbClr val="FF0000"/>
                </a:solidFill>
                <a:latin typeface="Trebuchet MS"/>
                <a:cs typeface="Trebuchet MS"/>
              </a:rPr>
              <a:t>V.</a:t>
            </a:r>
            <a:r>
              <a:rPr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Sathvik</a:t>
            </a:r>
            <a:r>
              <a:rPr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509" dirty="0">
                <a:solidFill>
                  <a:srgbClr val="FF0000"/>
                </a:solidFill>
                <a:latin typeface="Trebuchet MS"/>
                <a:cs typeface="Trebuchet MS"/>
              </a:rPr>
              <a:t>—</a:t>
            </a:r>
            <a:r>
              <a:rPr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FF0000"/>
                </a:solidFill>
                <a:latin typeface="Trebuchet MS"/>
                <a:cs typeface="Trebuchet MS"/>
              </a:rPr>
              <a:t>2520090097</a:t>
            </a:r>
            <a:endParaRPr lang="en-IN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86385" algn="l">
              <a:lnSpc>
                <a:spcPct val="100000"/>
              </a:lnSpc>
              <a:spcBef>
                <a:spcPts val="1005"/>
              </a:spcBef>
            </a:pPr>
            <a:r>
              <a:rPr lang="en-IN" spc="-20" dirty="0">
                <a:solidFill>
                  <a:srgbClr val="FF0000"/>
                </a:solidFill>
                <a:latin typeface="Trebuchet MS"/>
                <a:cs typeface="Trebuchet MS"/>
              </a:rPr>
              <a:t>Ch.</a:t>
            </a:r>
            <a:r>
              <a:rPr lang="en-IN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dirty="0">
                <a:solidFill>
                  <a:srgbClr val="FF0000"/>
                </a:solidFill>
                <a:latin typeface="Trebuchet MS"/>
                <a:cs typeface="Trebuchet MS"/>
              </a:rPr>
              <a:t>Shanthi</a:t>
            </a:r>
            <a:r>
              <a:rPr lang="en-IN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pc="60" dirty="0">
                <a:solidFill>
                  <a:srgbClr val="FF0000"/>
                </a:solidFill>
                <a:latin typeface="Trebuchet MS"/>
                <a:cs typeface="Trebuchet MS"/>
              </a:rPr>
              <a:t>Swaroop</a:t>
            </a:r>
            <a:r>
              <a:rPr lang="en-IN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pc="509" dirty="0">
                <a:solidFill>
                  <a:srgbClr val="FF0000"/>
                </a:solidFill>
                <a:latin typeface="Trebuchet MS"/>
                <a:cs typeface="Trebuchet MS"/>
              </a:rPr>
              <a:t>—</a:t>
            </a:r>
            <a:r>
              <a:rPr lang="en-IN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pc="90" dirty="0">
                <a:solidFill>
                  <a:srgbClr val="FF0000"/>
                </a:solidFill>
                <a:latin typeface="Trebuchet MS"/>
                <a:cs typeface="Trebuchet MS"/>
              </a:rPr>
              <a:t>2520090224</a:t>
            </a:r>
            <a:endParaRPr lang="en-IN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solidFill>
                  <a:srgbClr val="FF0000"/>
                </a:solidFill>
                <a:latin typeface="Trebuchet MS"/>
                <a:cs typeface="Trebuchet MS"/>
              </a:rPr>
              <a:t>    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Team</a:t>
            </a:r>
            <a:r>
              <a:rPr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Number:</a:t>
            </a:r>
            <a:r>
              <a:rPr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170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r>
              <a:rPr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endParaRPr lang="en-US" spc="-25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solidFill>
                  <a:srgbClr val="FF0000"/>
                </a:solidFill>
                <a:latin typeface="Trebuchet MS"/>
                <a:cs typeface="Trebuchet MS"/>
              </a:rPr>
              <a:t>    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Section:</a:t>
            </a:r>
            <a:r>
              <a:rPr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FF0000"/>
                </a:solidFill>
                <a:latin typeface="Trebuchet MS"/>
                <a:cs typeface="Trebuchet MS"/>
              </a:rPr>
              <a:t>10</a:t>
            </a:r>
            <a:endParaRPr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83217"/>
            <a:ext cx="7162078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488439"/>
            <a:ext cx="100044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Efficient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hospital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resource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management</a:t>
            </a:r>
            <a:r>
              <a:rPr sz="1350" spc="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ensures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limited</a:t>
            </a: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125" dirty="0">
                <a:solidFill>
                  <a:srgbClr val="6F655C"/>
                </a:solidFill>
                <a:latin typeface="Trebuchet MS"/>
                <a:cs typeface="Trebuchet MS"/>
              </a:rPr>
              <a:t>assets—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beds,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ORs,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105" dirty="0">
                <a:solidFill>
                  <a:srgbClr val="6F655C"/>
                </a:solidFill>
                <a:latin typeface="Trebuchet MS"/>
                <a:cs typeface="Trebuchet MS"/>
              </a:rPr>
              <a:t>staff—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are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6F655C"/>
                </a:solidFill>
                <a:latin typeface="Trebuchet MS"/>
                <a:cs typeface="Trebuchet MS"/>
              </a:rPr>
              <a:t>used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safely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and</a:t>
            </a:r>
            <a:r>
              <a:rPr sz="1350" spc="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effectively.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Our</a:t>
            </a:r>
            <a:r>
              <a:rPr sz="1350" spc="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digital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scheduling</a:t>
            </a:r>
            <a:r>
              <a:rPr sz="1350" spc="-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system</a:t>
            </a:r>
            <a:r>
              <a:rPr sz="1350" spc="-7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coordinates: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276474"/>
            <a:ext cx="695324" cy="4286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2276474"/>
            <a:ext cx="695324" cy="4286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96714" y="2249487"/>
            <a:ext cx="4027804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0"/>
              </a:spcBef>
              <a:tabLst>
                <a:tab pos="2623185" algn="l"/>
              </a:tabLst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Patient</a:t>
            </a:r>
            <a:r>
              <a:rPr sz="1650" b="1" dirty="0">
                <a:solidFill>
                  <a:srgbClr val="6F655C"/>
                </a:solidFill>
                <a:latin typeface="Cambria"/>
                <a:cs typeface="Cambria"/>
              </a:rPr>
              <a:t>	Bed</a:t>
            </a:r>
            <a:r>
              <a:rPr sz="1650" b="1" spc="45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allocation admissions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9774" y="2276474"/>
            <a:ext cx="695324" cy="4286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18796" y="2249487"/>
            <a:ext cx="1095375" cy="844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30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Operating </a:t>
            </a:r>
            <a:r>
              <a:rPr sz="1650" b="1" spc="-20" dirty="0">
                <a:solidFill>
                  <a:srgbClr val="6F655C"/>
                </a:solidFill>
                <a:latin typeface="Cambria"/>
                <a:cs typeface="Cambria"/>
              </a:rPr>
              <a:t>room </a:t>
            </a:r>
            <a:r>
              <a:rPr sz="1650" b="1" spc="-25" dirty="0">
                <a:solidFill>
                  <a:srgbClr val="6F655C"/>
                </a:solidFill>
                <a:latin typeface="Cambria"/>
                <a:cs typeface="Cambria"/>
              </a:rPr>
              <a:t>availability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4" y="2276474"/>
            <a:ext cx="695324" cy="4286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329835" y="2249487"/>
            <a:ext cx="149606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0"/>
              </a:spcBef>
            </a:pPr>
            <a:r>
              <a:rPr sz="1650" b="1" dirty="0">
                <a:solidFill>
                  <a:srgbClr val="6F655C"/>
                </a:solidFill>
                <a:latin typeface="Cambria"/>
                <a:cs typeface="Cambria"/>
              </a:rPr>
              <a:t>Staff</a:t>
            </a:r>
            <a:r>
              <a:rPr sz="1650" b="1" spc="195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schedules </a:t>
            </a:r>
            <a:r>
              <a:rPr sz="1650" b="1" spc="465" dirty="0">
                <a:solidFill>
                  <a:srgbClr val="6F655C"/>
                </a:solidFill>
                <a:latin typeface="Cambria"/>
                <a:cs typeface="Cambria"/>
              </a:rPr>
              <a:t>P</a:t>
            </a:r>
            <a:r>
              <a:rPr sz="1650" b="1" spc="40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priorities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4" y="3324224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2954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399"/>
                </a:lnTo>
                <a:lnTo>
                  <a:pt x="0" y="12155"/>
                </a:lnTo>
                <a:lnTo>
                  <a:pt x="0" y="9524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0222954" y="0"/>
                </a:lnTo>
                <a:lnTo>
                  <a:pt x="10225199" y="929"/>
                </a:lnTo>
                <a:lnTo>
                  <a:pt x="10228919" y="4649"/>
                </a:lnTo>
                <a:lnTo>
                  <a:pt x="10229849" y="6894"/>
                </a:lnTo>
                <a:lnTo>
                  <a:pt x="10229849" y="12155"/>
                </a:lnTo>
                <a:lnTo>
                  <a:pt x="10228919" y="14399"/>
                </a:lnTo>
                <a:lnTo>
                  <a:pt x="10225199" y="18119"/>
                </a:lnTo>
                <a:lnTo>
                  <a:pt x="10222954" y="19049"/>
                </a:lnTo>
                <a:close/>
              </a:path>
            </a:pathLst>
          </a:custGeom>
          <a:solidFill>
            <a:srgbClr val="6F655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00074" y="3571874"/>
            <a:ext cx="3312160" cy="940435"/>
            <a:chOff x="600074" y="3571874"/>
            <a:chExt cx="3312160" cy="940435"/>
          </a:xfrm>
        </p:grpSpPr>
        <p:sp>
          <p:nvSpPr>
            <p:cNvPr id="14" name="object 14"/>
            <p:cNvSpPr/>
            <p:nvPr/>
          </p:nvSpPr>
          <p:spPr>
            <a:xfrm>
              <a:off x="617206" y="3589005"/>
              <a:ext cx="3295015" cy="923290"/>
            </a:xfrm>
            <a:custGeom>
              <a:avLst/>
              <a:gdLst/>
              <a:ahLst/>
              <a:cxnLst/>
              <a:rect l="l" t="t" r="r" b="b"/>
              <a:pathLst>
                <a:path w="3295015" h="923289">
                  <a:moveTo>
                    <a:pt x="3283762" y="897268"/>
                  </a:moveTo>
                  <a:lnTo>
                    <a:pt x="3225205" y="897268"/>
                  </a:lnTo>
                  <a:lnTo>
                    <a:pt x="3231644" y="895987"/>
                  </a:lnTo>
                  <a:lnTo>
                    <a:pt x="3244013" y="890864"/>
                  </a:lnTo>
                  <a:lnTo>
                    <a:pt x="3267712" y="859920"/>
                  </a:lnTo>
                  <a:lnTo>
                    <a:pt x="3268993" y="853480"/>
                  </a:lnTo>
                  <a:lnTo>
                    <a:pt x="3268993" y="36181"/>
                  </a:lnTo>
                  <a:lnTo>
                    <a:pt x="3249473" y="2445"/>
                  </a:lnTo>
                  <a:lnTo>
                    <a:pt x="3245812" y="0"/>
                  </a:lnTo>
                  <a:lnTo>
                    <a:pt x="3250155" y="863"/>
                  </a:lnTo>
                  <a:lnTo>
                    <a:pt x="3282289" y="22334"/>
                  </a:lnTo>
                  <a:lnTo>
                    <a:pt x="3294591" y="55009"/>
                  </a:lnTo>
                  <a:lnTo>
                    <a:pt x="3294591" y="866799"/>
                  </a:lnTo>
                  <a:lnTo>
                    <a:pt x="3286667" y="892921"/>
                  </a:lnTo>
                  <a:lnTo>
                    <a:pt x="3283762" y="897268"/>
                  </a:lnTo>
                  <a:close/>
                </a:path>
                <a:path w="3295015" h="923289">
                  <a:moveTo>
                    <a:pt x="3238524" y="922867"/>
                  </a:moveTo>
                  <a:lnTo>
                    <a:pt x="55009" y="922867"/>
                  </a:lnTo>
                  <a:lnTo>
                    <a:pt x="51105" y="922482"/>
                  </a:lnTo>
                  <a:lnTo>
                    <a:pt x="13731" y="902504"/>
                  </a:lnTo>
                  <a:lnTo>
                    <a:pt x="0" y="874088"/>
                  </a:lnTo>
                  <a:lnTo>
                    <a:pt x="2445" y="877749"/>
                  </a:lnTo>
                  <a:lnTo>
                    <a:pt x="11913" y="887216"/>
                  </a:lnTo>
                  <a:lnTo>
                    <a:pt x="17372" y="890864"/>
                  </a:lnTo>
                  <a:lnTo>
                    <a:pt x="29742" y="895987"/>
                  </a:lnTo>
                  <a:lnTo>
                    <a:pt x="36181" y="897268"/>
                  </a:lnTo>
                  <a:lnTo>
                    <a:pt x="3283762" y="897268"/>
                  </a:lnTo>
                  <a:lnTo>
                    <a:pt x="3282289" y="899473"/>
                  </a:lnTo>
                  <a:lnTo>
                    <a:pt x="3250155" y="920945"/>
                  </a:lnTo>
                  <a:lnTo>
                    <a:pt x="3242426" y="922482"/>
                  </a:lnTo>
                  <a:lnTo>
                    <a:pt x="3238524" y="922867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3229431" y="904874"/>
                  </a:moveTo>
                  <a:lnTo>
                    <a:pt x="47167" y="904874"/>
                  </a:lnTo>
                  <a:lnTo>
                    <a:pt x="43884" y="904551"/>
                  </a:lnTo>
                  <a:lnTo>
                    <a:pt x="10349" y="885194"/>
                  </a:lnTo>
                  <a:lnTo>
                    <a:pt x="0" y="857707"/>
                  </a:lnTo>
                  <a:lnTo>
                    <a:pt x="0" y="8543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9"/>
                  </a:lnTo>
                  <a:lnTo>
                    <a:pt x="3276599" y="47167"/>
                  </a:lnTo>
                  <a:lnTo>
                    <a:pt x="3276599" y="857707"/>
                  </a:lnTo>
                  <a:lnTo>
                    <a:pt x="3259470" y="892432"/>
                  </a:lnTo>
                  <a:lnTo>
                    <a:pt x="3232714" y="904551"/>
                  </a:lnTo>
                  <a:lnTo>
                    <a:pt x="3229431" y="904874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0" y="854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54163" y="8507"/>
                  </a:lnTo>
                  <a:lnTo>
                    <a:pt x="3256919" y="10348"/>
                  </a:lnTo>
                  <a:lnTo>
                    <a:pt x="3272756" y="31162"/>
                  </a:lnTo>
                  <a:lnTo>
                    <a:pt x="3274025" y="34225"/>
                  </a:lnTo>
                  <a:lnTo>
                    <a:pt x="3274982" y="37382"/>
                  </a:lnTo>
                  <a:lnTo>
                    <a:pt x="3275629" y="40633"/>
                  </a:lnTo>
                  <a:lnTo>
                    <a:pt x="3276276" y="43884"/>
                  </a:lnTo>
                  <a:lnTo>
                    <a:pt x="3276599" y="47167"/>
                  </a:lnTo>
                  <a:lnTo>
                    <a:pt x="3276599" y="50482"/>
                  </a:lnTo>
                  <a:lnTo>
                    <a:pt x="3276599" y="854392"/>
                  </a:lnTo>
                  <a:lnTo>
                    <a:pt x="3276599" y="857707"/>
                  </a:lnTo>
                  <a:lnTo>
                    <a:pt x="3276276" y="860990"/>
                  </a:lnTo>
                  <a:lnTo>
                    <a:pt x="3275629" y="864240"/>
                  </a:lnTo>
                  <a:lnTo>
                    <a:pt x="3274983" y="867491"/>
                  </a:lnTo>
                  <a:lnTo>
                    <a:pt x="3274025" y="870648"/>
                  </a:lnTo>
                  <a:lnTo>
                    <a:pt x="3272756" y="873710"/>
                  </a:lnTo>
                  <a:lnTo>
                    <a:pt x="3271488" y="876773"/>
                  </a:lnTo>
                  <a:lnTo>
                    <a:pt x="3254163" y="896367"/>
                  </a:lnTo>
                  <a:lnTo>
                    <a:pt x="3251407" y="898208"/>
                  </a:lnTo>
                  <a:lnTo>
                    <a:pt x="3248498" y="899763"/>
                  </a:lnTo>
                  <a:lnTo>
                    <a:pt x="3245435" y="901031"/>
                  </a:lnTo>
                  <a:lnTo>
                    <a:pt x="3242373" y="902300"/>
                  </a:lnTo>
                  <a:lnTo>
                    <a:pt x="3226117" y="904874"/>
                  </a:lnTo>
                  <a:lnTo>
                    <a:pt x="50482" y="904874"/>
                  </a:lnTo>
                  <a:lnTo>
                    <a:pt x="47167" y="904874"/>
                  </a:lnTo>
                  <a:lnTo>
                    <a:pt x="43884" y="904551"/>
                  </a:lnTo>
                  <a:lnTo>
                    <a:pt x="40633" y="903904"/>
                  </a:lnTo>
                  <a:lnTo>
                    <a:pt x="37382" y="903257"/>
                  </a:lnTo>
                  <a:lnTo>
                    <a:pt x="34226" y="902300"/>
                  </a:lnTo>
                  <a:lnTo>
                    <a:pt x="31163" y="901031"/>
                  </a:lnTo>
                  <a:lnTo>
                    <a:pt x="28101" y="899763"/>
                  </a:lnTo>
                  <a:lnTo>
                    <a:pt x="8507" y="882438"/>
                  </a:lnTo>
                  <a:lnTo>
                    <a:pt x="6666" y="879682"/>
                  </a:lnTo>
                  <a:lnTo>
                    <a:pt x="969" y="864240"/>
                  </a:lnTo>
                  <a:lnTo>
                    <a:pt x="323" y="860990"/>
                  </a:lnTo>
                  <a:lnTo>
                    <a:pt x="0" y="857707"/>
                  </a:lnTo>
                  <a:lnTo>
                    <a:pt x="0" y="854392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7874" y="3754437"/>
            <a:ext cx="292671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latin typeface="Cambria"/>
                <a:cs typeface="Cambria"/>
              </a:rPr>
              <a:t>Optimize</a:t>
            </a:r>
            <a:r>
              <a:rPr sz="1650" b="1" spc="16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Resource</a:t>
            </a:r>
            <a:r>
              <a:rPr sz="1650" b="1" spc="80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Allocation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67174" y="3571874"/>
            <a:ext cx="3312160" cy="940435"/>
            <a:chOff x="4067174" y="3571874"/>
            <a:chExt cx="3312160" cy="940435"/>
          </a:xfrm>
        </p:grpSpPr>
        <p:sp>
          <p:nvSpPr>
            <p:cNvPr id="19" name="object 19"/>
            <p:cNvSpPr/>
            <p:nvPr/>
          </p:nvSpPr>
          <p:spPr>
            <a:xfrm>
              <a:off x="4084305" y="3589005"/>
              <a:ext cx="3295015" cy="923290"/>
            </a:xfrm>
            <a:custGeom>
              <a:avLst/>
              <a:gdLst/>
              <a:ahLst/>
              <a:cxnLst/>
              <a:rect l="l" t="t" r="r" b="b"/>
              <a:pathLst>
                <a:path w="3295015" h="923289">
                  <a:moveTo>
                    <a:pt x="3283762" y="897268"/>
                  </a:moveTo>
                  <a:lnTo>
                    <a:pt x="3225205" y="897268"/>
                  </a:lnTo>
                  <a:lnTo>
                    <a:pt x="3231644" y="895987"/>
                  </a:lnTo>
                  <a:lnTo>
                    <a:pt x="3244013" y="890864"/>
                  </a:lnTo>
                  <a:lnTo>
                    <a:pt x="3267713" y="859920"/>
                  </a:lnTo>
                  <a:lnTo>
                    <a:pt x="3268993" y="853480"/>
                  </a:lnTo>
                  <a:lnTo>
                    <a:pt x="3268993" y="36181"/>
                  </a:lnTo>
                  <a:lnTo>
                    <a:pt x="3249473" y="2445"/>
                  </a:lnTo>
                  <a:lnTo>
                    <a:pt x="3245812" y="0"/>
                  </a:lnTo>
                  <a:lnTo>
                    <a:pt x="3250154" y="863"/>
                  </a:lnTo>
                  <a:lnTo>
                    <a:pt x="3282288" y="22334"/>
                  </a:lnTo>
                  <a:lnTo>
                    <a:pt x="3294591" y="55009"/>
                  </a:lnTo>
                  <a:lnTo>
                    <a:pt x="3294591" y="866799"/>
                  </a:lnTo>
                  <a:lnTo>
                    <a:pt x="3286666" y="892921"/>
                  </a:lnTo>
                  <a:lnTo>
                    <a:pt x="3283762" y="897268"/>
                  </a:lnTo>
                  <a:close/>
                </a:path>
                <a:path w="3295015" h="923289">
                  <a:moveTo>
                    <a:pt x="3238524" y="922867"/>
                  </a:moveTo>
                  <a:lnTo>
                    <a:pt x="55009" y="922867"/>
                  </a:lnTo>
                  <a:lnTo>
                    <a:pt x="51106" y="922482"/>
                  </a:lnTo>
                  <a:lnTo>
                    <a:pt x="13732" y="902504"/>
                  </a:lnTo>
                  <a:lnTo>
                    <a:pt x="95" y="874566"/>
                  </a:lnTo>
                  <a:lnTo>
                    <a:pt x="0" y="874086"/>
                  </a:lnTo>
                  <a:lnTo>
                    <a:pt x="36182" y="897268"/>
                  </a:lnTo>
                  <a:lnTo>
                    <a:pt x="3283762" y="897268"/>
                  </a:lnTo>
                  <a:lnTo>
                    <a:pt x="3282289" y="899473"/>
                  </a:lnTo>
                  <a:lnTo>
                    <a:pt x="3250155" y="920945"/>
                  </a:lnTo>
                  <a:lnTo>
                    <a:pt x="3242426" y="922482"/>
                  </a:lnTo>
                  <a:lnTo>
                    <a:pt x="3238524" y="922867"/>
                  </a:lnTo>
                  <a:close/>
                </a:path>
              </a:pathLst>
            </a:custGeom>
            <a:solidFill>
              <a:srgbClr val="B1A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766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3229431" y="904874"/>
                  </a:moveTo>
                  <a:lnTo>
                    <a:pt x="47167" y="904874"/>
                  </a:lnTo>
                  <a:lnTo>
                    <a:pt x="43884" y="904551"/>
                  </a:lnTo>
                  <a:lnTo>
                    <a:pt x="10349" y="885194"/>
                  </a:lnTo>
                  <a:lnTo>
                    <a:pt x="0" y="857707"/>
                  </a:lnTo>
                  <a:lnTo>
                    <a:pt x="0" y="854392"/>
                  </a:lnTo>
                  <a:lnTo>
                    <a:pt x="0" y="47167"/>
                  </a:lnTo>
                  <a:lnTo>
                    <a:pt x="17130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7" y="17129"/>
                  </a:lnTo>
                  <a:lnTo>
                    <a:pt x="3276600" y="47167"/>
                  </a:lnTo>
                  <a:lnTo>
                    <a:pt x="3276600" y="857707"/>
                  </a:lnTo>
                  <a:lnTo>
                    <a:pt x="3259469" y="892432"/>
                  </a:lnTo>
                  <a:lnTo>
                    <a:pt x="3232714" y="904551"/>
                  </a:lnTo>
                  <a:lnTo>
                    <a:pt x="3229431" y="904874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66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0" y="854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70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2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7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66250" y="19679"/>
                  </a:lnTo>
                  <a:lnTo>
                    <a:pt x="3268091" y="22435"/>
                  </a:lnTo>
                  <a:lnTo>
                    <a:pt x="3269933" y="25191"/>
                  </a:lnTo>
                  <a:lnTo>
                    <a:pt x="3271488" y="28100"/>
                  </a:lnTo>
                  <a:lnTo>
                    <a:pt x="3272756" y="31162"/>
                  </a:lnTo>
                  <a:lnTo>
                    <a:pt x="3274025" y="34225"/>
                  </a:lnTo>
                  <a:lnTo>
                    <a:pt x="3274982" y="37382"/>
                  </a:lnTo>
                  <a:lnTo>
                    <a:pt x="3275629" y="40633"/>
                  </a:lnTo>
                  <a:lnTo>
                    <a:pt x="3276276" y="43884"/>
                  </a:lnTo>
                  <a:lnTo>
                    <a:pt x="3276600" y="47167"/>
                  </a:lnTo>
                  <a:lnTo>
                    <a:pt x="3276600" y="50482"/>
                  </a:lnTo>
                  <a:lnTo>
                    <a:pt x="3276600" y="854392"/>
                  </a:lnTo>
                  <a:lnTo>
                    <a:pt x="3276600" y="857707"/>
                  </a:lnTo>
                  <a:lnTo>
                    <a:pt x="3276276" y="860990"/>
                  </a:lnTo>
                  <a:lnTo>
                    <a:pt x="3275630" y="864240"/>
                  </a:lnTo>
                  <a:lnTo>
                    <a:pt x="3274983" y="867491"/>
                  </a:lnTo>
                  <a:lnTo>
                    <a:pt x="3274025" y="870648"/>
                  </a:lnTo>
                  <a:lnTo>
                    <a:pt x="3272757" y="873710"/>
                  </a:lnTo>
                  <a:lnTo>
                    <a:pt x="3271488" y="876773"/>
                  </a:lnTo>
                  <a:lnTo>
                    <a:pt x="3269933" y="879682"/>
                  </a:lnTo>
                  <a:lnTo>
                    <a:pt x="3268091" y="882438"/>
                  </a:lnTo>
                  <a:lnTo>
                    <a:pt x="3266250" y="885194"/>
                  </a:lnTo>
                  <a:lnTo>
                    <a:pt x="3254162" y="896367"/>
                  </a:lnTo>
                  <a:lnTo>
                    <a:pt x="3251406" y="898208"/>
                  </a:lnTo>
                  <a:lnTo>
                    <a:pt x="3248497" y="899763"/>
                  </a:lnTo>
                  <a:lnTo>
                    <a:pt x="3245435" y="901031"/>
                  </a:lnTo>
                  <a:lnTo>
                    <a:pt x="3242373" y="902300"/>
                  </a:lnTo>
                  <a:lnTo>
                    <a:pt x="3239216" y="903257"/>
                  </a:lnTo>
                  <a:lnTo>
                    <a:pt x="3235965" y="903904"/>
                  </a:lnTo>
                  <a:lnTo>
                    <a:pt x="3232714" y="904551"/>
                  </a:lnTo>
                  <a:lnTo>
                    <a:pt x="3229431" y="904874"/>
                  </a:lnTo>
                  <a:lnTo>
                    <a:pt x="3226117" y="904874"/>
                  </a:lnTo>
                  <a:lnTo>
                    <a:pt x="50482" y="904874"/>
                  </a:lnTo>
                  <a:lnTo>
                    <a:pt x="47167" y="904874"/>
                  </a:lnTo>
                  <a:lnTo>
                    <a:pt x="43884" y="904551"/>
                  </a:lnTo>
                  <a:lnTo>
                    <a:pt x="40633" y="903904"/>
                  </a:lnTo>
                  <a:lnTo>
                    <a:pt x="37382" y="903257"/>
                  </a:lnTo>
                  <a:lnTo>
                    <a:pt x="34225" y="902300"/>
                  </a:lnTo>
                  <a:lnTo>
                    <a:pt x="31163" y="901031"/>
                  </a:lnTo>
                  <a:lnTo>
                    <a:pt x="28100" y="899763"/>
                  </a:lnTo>
                  <a:lnTo>
                    <a:pt x="25191" y="898208"/>
                  </a:lnTo>
                  <a:lnTo>
                    <a:pt x="22435" y="896366"/>
                  </a:lnTo>
                  <a:lnTo>
                    <a:pt x="19679" y="894525"/>
                  </a:lnTo>
                  <a:lnTo>
                    <a:pt x="3842" y="873711"/>
                  </a:lnTo>
                  <a:lnTo>
                    <a:pt x="2573" y="870648"/>
                  </a:lnTo>
                  <a:lnTo>
                    <a:pt x="1616" y="867492"/>
                  </a:lnTo>
                  <a:lnTo>
                    <a:pt x="970" y="864240"/>
                  </a:lnTo>
                  <a:lnTo>
                    <a:pt x="323" y="860990"/>
                  </a:lnTo>
                  <a:lnTo>
                    <a:pt x="0" y="857707"/>
                  </a:lnTo>
                  <a:lnTo>
                    <a:pt x="0" y="854392"/>
                  </a:lnTo>
                  <a:close/>
                </a:path>
              </a:pathLst>
            </a:custGeom>
            <a:ln w="19049">
              <a:solidFill>
                <a:srgbClr val="B1A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44975" y="3754437"/>
            <a:ext cx="284035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latin typeface="Cambria"/>
                <a:cs typeface="Cambria"/>
              </a:rPr>
              <a:t>Reduce</a:t>
            </a:r>
            <a:r>
              <a:rPr sz="1650" b="1" spc="4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Patient</a:t>
            </a:r>
            <a:r>
              <a:rPr sz="1650" b="1" spc="-40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Waiting</a:t>
            </a:r>
            <a:r>
              <a:rPr sz="1650" b="1" dirty="0">
                <a:latin typeface="Cambria"/>
                <a:cs typeface="Cambria"/>
              </a:rPr>
              <a:t> </a:t>
            </a:r>
            <a:r>
              <a:rPr sz="1650" b="1" spc="-20" dirty="0">
                <a:latin typeface="Cambria"/>
                <a:cs typeface="Cambria"/>
              </a:rPr>
              <a:t>Time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534274" y="3571874"/>
            <a:ext cx="3312160" cy="940435"/>
            <a:chOff x="7534274" y="3571874"/>
            <a:chExt cx="3312160" cy="940435"/>
          </a:xfrm>
        </p:grpSpPr>
        <p:sp>
          <p:nvSpPr>
            <p:cNvPr id="24" name="object 24"/>
            <p:cNvSpPr/>
            <p:nvPr/>
          </p:nvSpPr>
          <p:spPr>
            <a:xfrm>
              <a:off x="7551406" y="3589005"/>
              <a:ext cx="3295015" cy="923290"/>
            </a:xfrm>
            <a:custGeom>
              <a:avLst/>
              <a:gdLst/>
              <a:ahLst/>
              <a:cxnLst/>
              <a:rect l="l" t="t" r="r" b="b"/>
              <a:pathLst>
                <a:path w="3295015" h="923289">
                  <a:moveTo>
                    <a:pt x="3283760" y="897268"/>
                  </a:moveTo>
                  <a:lnTo>
                    <a:pt x="3225204" y="897268"/>
                  </a:lnTo>
                  <a:lnTo>
                    <a:pt x="3231643" y="895987"/>
                  </a:lnTo>
                  <a:lnTo>
                    <a:pt x="3244012" y="890864"/>
                  </a:lnTo>
                  <a:lnTo>
                    <a:pt x="3267711" y="859920"/>
                  </a:lnTo>
                  <a:lnTo>
                    <a:pt x="3268992" y="853480"/>
                  </a:lnTo>
                  <a:lnTo>
                    <a:pt x="3268992" y="36181"/>
                  </a:lnTo>
                  <a:lnTo>
                    <a:pt x="3249472" y="2445"/>
                  </a:lnTo>
                  <a:lnTo>
                    <a:pt x="3245811" y="0"/>
                  </a:lnTo>
                  <a:lnTo>
                    <a:pt x="3250153" y="863"/>
                  </a:lnTo>
                  <a:lnTo>
                    <a:pt x="3282288" y="22334"/>
                  </a:lnTo>
                  <a:lnTo>
                    <a:pt x="3294591" y="55009"/>
                  </a:lnTo>
                  <a:lnTo>
                    <a:pt x="3294591" y="866799"/>
                  </a:lnTo>
                  <a:lnTo>
                    <a:pt x="3286666" y="892921"/>
                  </a:lnTo>
                  <a:lnTo>
                    <a:pt x="3283760" y="897268"/>
                  </a:lnTo>
                  <a:close/>
                </a:path>
                <a:path w="3295015" h="923289">
                  <a:moveTo>
                    <a:pt x="3238523" y="922867"/>
                  </a:moveTo>
                  <a:lnTo>
                    <a:pt x="55009" y="922867"/>
                  </a:lnTo>
                  <a:lnTo>
                    <a:pt x="51104" y="922482"/>
                  </a:lnTo>
                  <a:lnTo>
                    <a:pt x="13730" y="902504"/>
                  </a:lnTo>
                  <a:lnTo>
                    <a:pt x="0" y="874089"/>
                  </a:lnTo>
                  <a:lnTo>
                    <a:pt x="2445" y="877749"/>
                  </a:lnTo>
                  <a:lnTo>
                    <a:pt x="11912" y="887216"/>
                  </a:lnTo>
                  <a:lnTo>
                    <a:pt x="17371" y="890864"/>
                  </a:lnTo>
                  <a:lnTo>
                    <a:pt x="29741" y="895987"/>
                  </a:lnTo>
                  <a:lnTo>
                    <a:pt x="36181" y="897268"/>
                  </a:lnTo>
                  <a:lnTo>
                    <a:pt x="3283760" y="897268"/>
                  </a:lnTo>
                  <a:lnTo>
                    <a:pt x="3282287" y="899473"/>
                  </a:lnTo>
                  <a:lnTo>
                    <a:pt x="3250152" y="920945"/>
                  </a:lnTo>
                  <a:lnTo>
                    <a:pt x="3242424" y="922482"/>
                  </a:lnTo>
                  <a:lnTo>
                    <a:pt x="3238523" y="922867"/>
                  </a:lnTo>
                  <a:close/>
                </a:path>
              </a:pathLst>
            </a:custGeom>
            <a:solidFill>
              <a:srgbClr val="99B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437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3229431" y="904874"/>
                  </a:moveTo>
                  <a:lnTo>
                    <a:pt x="47167" y="904874"/>
                  </a:lnTo>
                  <a:lnTo>
                    <a:pt x="43884" y="904551"/>
                  </a:lnTo>
                  <a:lnTo>
                    <a:pt x="10348" y="885194"/>
                  </a:lnTo>
                  <a:lnTo>
                    <a:pt x="0" y="857707"/>
                  </a:lnTo>
                  <a:lnTo>
                    <a:pt x="0" y="8543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29431" y="0"/>
                  </a:lnTo>
                  <a:lnTo>
                    <a:pt x="3264156" y="17129"/>
                  </a:lnTo>
                  <a:lnTo>
                    <a:pt x="3276598" y="47167"/>
                  </a:lnTo>
                  <a:lnTo>
                    <a:pt x="3276598" y="857707"/>
                  </a:lnTo>
                  <a:lnTo>
                    <a:pt x="3259470" y="892432"/>
                  </a:lnTo>
                  <a:lnTo>
                    <a:pt x="3232714" y="904551"/>
                  </a:lnTo>
                  <a:lnTo>
                    <a:pt x="3229431" y="904874"/>
                  </a:lnTo>
                  <a:close/>
                </a:path>
              </a:pathLst>
            </a:custGeom>
            <a:solidFill>
              <a:srgbClr val="D9E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3799" y="3581399"/>
              <a:ext cx="3276600" cy="904875"/>
            </a:xfrm>
            <a:custGeom>
              <a:avLst/>
              <a:gdLst/>
              <a:ahLst/>
              <a:cxnLst/>
              <a:rect l="l" t="t" r="r" b="b"/>
              <a:pathLst>
                <a:path w="3276600" h="904875">
                  <a:moveTo>
                    <a:pt x="0" y="8543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2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26116" y="0"/>
                  </a:lnTo>
                  <a:lnTo>
                    <a:pt x="3229431" y="0"/>
                  </a:lnTo>
                  <a:lnTo>
                    <a:pt x="3232714" y="323"/>
                  </a:lnTo>
                  <a:lnTo>
                    <a:pt x="3266249" y="19679"/>
                  </a:lnTo>
                  <a:lnTo>
                    <a:pt x="3268089" y="22435"/>
                  </a:lnTo>
                  <a:lnTo>
                    <a:pt x="3269932" y="25191"/>
                  </a:lnTo>
                  <a:lnTo>
                    <a:pt x="3275628" y="40633"/>
                  </a:lnTo>
                  <a:lnTo>
                    <a:pt x="3276275" y="43884"/>
                  </a:lnTo>
                  <a:lnTo>
                    <a:pt x="3276598" y="47167"/>
                  </a:lnTo>
                  <a:lnTo>
                    <a:pt x="3276599" y="50482"/>
                  </a:lnTo>
                  <a:lnTo>
                    <a:pt x="3276599" y="854392"/>
                  </a:lnTo>
                  <a:lnTo>
                    <a:pt x="3276598" y="857707"/>
                  </a:lnTo>
                  <a:lnTo>
                    <a:pt x="3276275" y="860990"/>
                  </a:lnTo>
                  <a:lnTo>
                    <a:pt x="3275628" y="864240"/>
                  </a:lnTo>
                  <a:lnTo>
                    <a:pt x="3274982" y="867491"/>
                  </a:lnTo>
                  <a:lnTo>
                    <a:pt x="3251407" y="898208"/>
                  </a:lnTo>
                  <a:lnTo>
                    <a:pt x="3245434" y="901031"/>
                  </a:lnTo>
                  <a:lnTo>
                    <a:pt x="3242372" y="902300"/>
                  </a:lnTo>
                  <a:lnTo>
                    <a:pt x="3239216" y="903257"/>
                  </a:lnTo>
                  <a:lnTo>
                    <a:pt x="3235963" y="903904"/>
                  </a:lnTo>
                  <a:lnTo>
                    <a:pt x="3232714" y="904551"/>
                  </a:lnTo>
                  <a:lnTo>
                    <a:pt x="3229431" y="904874"/>
                  </a:lnTo>
                  <a:lnTo>
                    <a:pt x="3226116" y="904874"/>
                  </a:lnTo>
                  <a:lnTo>
                    <a:pt x="50482" y="904874"/>
                  </a:lnTo>
                  <a:lnTo>
                    <a:pt x="47167" y="904874"/>
                  </a:lnTo>
                  <a:lnTo>
                    <a:pt x="43884" y="904551"/>
                  </a:lnTo>
                  <a:lnTo>
                    <a:pt x="40633" y="903904"/>
                  </a:lnTo>
                  <a:lnTo>
                    <a:pt x="37382" y="903257"/>
                  </a:lnTo>
                  <a:lnTo>
                    <a:pt x="34225" y="902300"/>
                  </a:lnTo>
                  <a:lnTo>
                    <a:pt x="31163" y="901031"/>
                  </a:lnTo>
                  <a:lnTo>
                    <a:pt x="28100" y="899763"/>
                  </a:lnTo>
                  <a:lnTo>
                    <a:pt x="14785" y="890088"/>
                  </a:lnTo>
                  <a:lnTo>
                    <a:pt x="12441" y="887744"/>
                  </a:lnTo>
                  <a:lnTo>
                    <a:pt x="10348" y="885194"/>
                  </a:lnTo>
                  <a:lnTo>
                    <a:pt x="8507" y="882438"/>
                  </a:lnTo>
                  <a:lnTo>
                    <a:pt x="6665" y="879682"/>
                  </a:lnTo>
                  <a:lnTo>
                    <a:pt x="5110" y="876773"/>
                  </a:lnTo>
                  <a:lnTo>
                    <a:pt x="3842" y="873711"/>
                  </a:lnTo>
                  <a:lnTo>
                    <a:pt x="2573" y="870648"/>
                  </a:lnTo>
                  <a:lnTo>
                    <a:pt x="1616" y="867492"/>
                  </a:lnTo>
                  <a:lnTo>
                    <a:pt x="969" y="864240"/>
                  </a:lnTo>
                  <a:lnTo>
                    <a:pt x="323" y="860990"/>
                  </a:lnTo>
                  <a:lnTo>
                    <a:pt x="0" y="857707"/>
                  </a:lnTo>
                  <a:lnTo>
                    <a:pt x="0" y="854392"/>
                  </a:lnTo>
                  <a:close/>
                </a:path>
              </a:pathLst>
            </a:custGeom>
            <a:ln w="19049">
              <a:solidFill>
                <a:srgbClr val="99BF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12075" y="3754437"/>
            <a:ext cx="209867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b="1" dirty="0">
                <a:latin typeface="Cambria"/>
                <a:cs typeface="Cambria"/>
              </a:rPr>
              <a:t>Minimize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Scheduling Conflicts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0074" y="4667249"/>
            <a:ext cx="5045710" cy="664210"/>
            <a:chOff x="600074" y="4667249"/>
            <a:chExt cx="5045710" cy="664210"/>
          </a:xfrm>
        </p:grpSpPr>
        <p:sp>
          <p:nvSpPr>
            <p:cNvPr id="29" name="object 29"/>
            <p:cNvSpPr/>
            <p:nvPr/>
          </p:nvSpPr>
          <p:spPr>
            <a:xfrm>
              <a:off x="617206" y="4684381"/>
              <a:ext cx="5028565" cy="647065"/>
            </a:xfrm>
            <a:custGeom>
              <a:avLst/>
              <a:gdLst/>
              <a:ahLst/>
              <a:cxnLst/>
              <a:rect l="l" t="t" r="r" b="b"/>
              <a:pathLst>
                <a:path w="5028565" h="647064">
                  <a:moveTo>
                    <a:pt x="5017311" y="621043"/>
                  </a:moveTo>
                  <a:lnTo>
                    <a:pt x="4958755" y="621043"/>
                  </a:lnTo>
                  <a:lnTo>
                    <a:pt x="4965194" y="619762"/>
                  </a:lnTo>
                  <a:lnTo>
                    <a:pt x="4977563" y="614638"/>
                  </a:lnTo>
                  <a:lnTo>
                    <a:pt x="5001261" y="583694"/>
                  </a:lnTo>
                  <a:lnTo>
                    <a:pt x="5002543" y="577255"/>
                  </a:lnTo>
                  <a:lnTo>
                    <a:pt x="5002543" y="36181"/>
                  </a:lnTo>
                  <a:lnTo>
                    <a:pt x="4983023" y="2445"/>
                  </a:lnTo>
                  <a:lnTo>
                    <a:pt x="4979363" y="0"/>
                  </a:lnTo>
                  <a:lnTo>
                    <a:pt x="4983704" y="863"/>
                  </a:lnTo>
                  <a:lnTo>
                    <a:pt x="5015838" y="22334"/>
                  </a:lnTo>
                  <a:lnTo>
                    <a:pt x="5028141" y="55009"/>
                  </a:lnTo>
                  <a:lnTo>
                    <a:pt x="5028141" y="590574"/>
                  </a:lnTo>
                  <a:lnTo>
                    <a:pt x="5020216" y="616695"/>
                  </a:lnTo>
                  <a:lnTo>
                    <a:pt x="5017311" y="621043"/>
                  </a:lnTo>
                  <a:close/>
                </a:path>
                <a:path w="5028565" h="647064">
                  <a:moveTo>
                    <a:pt x="4972074" y="646641"/>
                  </a:moveTo>
                  <a:lnTo>
                    <a:pt x="55009" y="646641"/>
                  </a:lnTo>
                  <a:lnTo>
                    <a:pt x="51107" y="646256"/>
                  </a:lnTo>
                  <a:lnTo>
                    <a:pt x="13731" y="626279"/>
                  </a:lnTo>
                  <a:lnTo>
                    <a:pt x="95" y="598340"/>
                  </a:lnTo>
                  <a:lnTo>
                    <a:pt x="0" y="597862"/>
                  </a:lnTo>
                  <a:lnTo>
                    <a:pt x="36181" y="621043"/>
                  </a:lnTo>
                  <a:lnTo>
                    <a:pt x="5017311" y="621043"/>
                  </a:lnTo>
                  <a:lnTo>
                    <a:pt x="5015838" y="623247"/>
                  </a:lnTo>
                  <a:lnTo>
                    <a:pt x="4983704" y="644718"/>
                  </a:lnTo>
                  <a:lnTo>
                    <a:pt x="4975976" y="646256"/>
                  </a:lnTo>
                  <a:lnTo>
                    <a:pt x="4972074" y="646641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599" y="4676774"/>
              <a:ext cx="5010150" cy="628650"/>
            </a:xfrm>
            <a:custGeom>
              <a:avLst/>
              <a:gdLst/>
              <a:ahLst/>
              <a:cxnLst/>
              <a:rect l="l" t="t" r="r" b="b"/>
              <a:pathLst>
                <a:path w="5010150" h="628650">
                  <a:moveTo>
                    <a:pt x="4962982" y="628649"/>
                  </a:moveTo>
                  <a:lnTo>
                    <a:pt x="47167" y="628649"/>
                  </a:lnTo>
                  <a:lnTo>
                    <a:pt x="43884" y="628326"/>
                  </a:lnTo>
                  <a:lnTo>
                    <a:pt x="10349" y="608969"/>
                  </a:lnTo>
                  <a:lnTo>
                    <a:pt x="0" y="581481"/>
                  </a:lnTo>
                  <a:lnTo>
                    <a:pt x="0" y="578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4962982" y="0"/>
                  </a:lnTo>
                  <a:lnTo>
                    <a:pt x="4997707" y="17129"/>
                  </a:lnTo>
                  <a:lnTo>
                    <a:pt x="5010149" y="47167"/>
                  </a:lnTo>
                  <a:lnTo>
                    <a:pt x="5010149" y="581481"/>
                  </a:lnTo>
                  <a:lnTo>
                    <a:pt x="4993018" y="616207"/>
                  </a:lnTo>
                  <a:lnTo>
                    <a:pt x="4966265" y="628326"/>
                  </a:lnTo>
                  <a:lnTo>
                    <a:pt x="4962982" y="628649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599" y="4676774"/>
              <a:ext cx="5010150" cy="628650"/>
            </a:xfrm>
            <a:custGeom>
              <a:avLst/>
              <a:gdLst/>
              <a:ahLst/>
              <a:cxnLst/>
              <a:rect l="l" t="t" r="r" b="b"/>
              <a:pathLst>
                <a:path w="5010150" h="628650">
                  <a:moveTo>
                    <a:pt x="0" y="578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2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959667" y="0"/>
                  </a:lnTo>
                  <a:lnTo>
                    <a:pt x="4962982" y="0"/>
                  </a:lnTo>
                  <a:lnTo>
                    <a:pt x="4966264" y="323"/>
                  </a:lnTo>
                  <a:lnTo>
                    <a:pt x="4999799" y="19679"/>
                  </a:lnTo>
                  <a:lnTo>
                    <a:pt x="5001640" y="22435"/>
                  </a:lnTo>
                  <a:lnTo>
                    <a:pt x="5003482" y="25191"/>
                  </a:lnTo>
                  <a:lnTo>
                    <a:pt x="5005037" y="28100"/>
                  </a:lnTo>
                  <a:lnTo>
                    <a:pt x="5006306" y="31162"/>
                  </a:lnTo>
                  <a:lnTo>
                    <a:pt x="5007574" y="34225"/>
                  </a:lnTo>
                  <a:lnTo>
                    <a:pt x="5008532" y="37382"/>
                  </a:lnTo>
                  <a:lnTo>
                    <a:pt x="5009179" y="40632"/>
                  </a:lnTo>
                  <a:lnTo>
                    <a:pt x="5009826" y="43884"/>
                  </a:lnTo>
                  <a:lnTo>
                    <a:pt x="5010149" y="47167"/>
                  </a:lnTo>
                  <a:lnTo>
                    <a:pt x="5010149" y="50482"/>
                  </a:lnTo>
                  <a:lnTo>
                    <a:pt x="5010149" y="578167"/>
                  </a:lnTo>
                  <a:lnTo>
                    <a:pt x="5010149" y="581481"/>
                  </a:lnTo>
                  <a:lnTo>
                    <a:pt x="5009826" y="584764"/>
                  </a:lnTo>
                  <a:lnTo>
                    <a:pt x="5009179" y="588016"/>
                  </a:lnTo>
                  <a:lnTo>
                    <a:pt x="5008532" y="591266"/>
                  </a:lnTo>
                  <a:lnTo>
                    <a:pt x="5007574" y="594423"/>
                  </a:lnTo>
                  <a:lnTo>
                    <a:pt x="5006306" y="597485"/>
                  </a:lnTo>
                  <a:lnTo>
                    <a:pt x="5005037" y="600547"/>
                  </a:lnTo>
                  <a:lnTo>
                    <a:pt x="5003482" y="603457"/>
                  </a:lnTo>
                  <a:lnTo>
                    <a:pt x="5001641" y="606213"/>
                  </a:lnTo>
                  <a:lnTo>
                    <a:pt x="4999800" y="608969"/>
                  </a:lnTo>
                  <a:lnTo>
                    <a:pt x="4969515" y="627679"/>
                  </a:lnTo>
                  <a:lnTo>
                    <a:pt x="4966265" y="628326"/>
                  </a:lnTo>
                  <a:lnTo>
                    <a:pt x="4962982" y="628649"/>
                  </a:lnTo>
                  <a:lnTo>
                    <a:pt x="4959667" y="628649"/>
                  </a:lnTo>
                  <a:lnTo>
                    <a:pt x="50482" y="628649"/>
                  </a:lnTo>
                  <a:lnTo>
                    <a:pt x="47167" y="628649"/>
                  </a:lnTo>
                  <a:lnTo>
                    <a:pt x="43884" y="628326"/>
                  </a:lnTo>
                  <a:lnTo>
                    <a:pt x="40633" y="627679"/>
                  </a:lnTo>
                  <a:lnTo>
                    <a:pt x="37382" y="627032"/>
                  </a:lnTo>
                  <a:lnTo>
                    <a:pt x="8507" y="606213"/>
                  </a:lnTo>
                  <a:lnTo>
                    <a:pt x="6666" y="603457"/>
                  </a:lnTo>
                  <a:lnTo>
                    <a:pt x="0" y="581481"/>
                  </a:lnTo>
                  <a:lnTo>
                    <a:pt x="0" y="578167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800724" y="4667249"/>
            <a:ext cx="5045710" cy="664210"/>
            <a:chOff x="5800724" y="4667249"/>
            <a:chExt cx="5045710" cy="664210"/>
          </a:xfrm>
        </p:grpSpPr>
        <p:sp>
          <p:nvSpPr>
            <p:cNvPr id="33" name="object 33"/>
            <p:cNvSpPr/>
            <p:nvPr/>
          </p:nvSpPr>
          <p:spPr>
            <a:xfrm>
              <a:off x="5817855" y="4684381"/>
              <a:ext cx="5028565" cy="647065"/>
            </a:xfrm>
            <a:custGeom>
              <a:avLst/>
              <a:gdLst/>
              <a:ahLst/>
              <a:cxnLst/>
              <a:rect l="l" t="t" r="r" b="b"/>
              <a:pathLst>
                <a:path w="5028565" h="647064">
                  <a:moveTo>
                    <a:pt x="5017311" y="621043"/>
                  </a:moveTo>
                  <a:lnTo>
                    <a:pt x="4958754" y="621043"/>
                  </a:lnTo>
                  <a:lnTo>
                    <a:pt x="4965193" y="619762"/>
                  </a:lnTo>
                  <a:lnTo>
                    <a:pt x="4977563" y="614638"/>
                  </a:lnTo>
                  <a:lnTo>
                    <a:pt x="5001261" y="583694"/>
                  </a:lnTo>
                  <a:lnTo>
                    <a:pt x="5002543" y="577255"/>
                  </a:lnTo>
                  <a:lnTo>
                    <a:pt x="5002543" y="36181"/>
                  </a:lnTo>
                  <a:lnTo>
                    <a:pt x="4983022" y="2445"/>
                  </a:lnTo>
                  <a:lnTo>
                    <a:pt x="4979362" y="0"/>
                  </a:lnTo>
                  <a:lnTo>
                    <a:pt x="4983703" y="863"/>
                  </a:lnTo>
                  <a:lnTo>
                    <a:pt x="5015838" y="22334"/>
                  </a:lnTo>
                  <a:lnTo>
                    <a:pt x="5028141" y="55009"/>
                  </a:lnTo>
                  <a:lnTo>
                    <a:pt x="5028141" y="590574"/>
                  </a:lnTo>
                  <a:lnTo>
                    <a:pt x="5020216" y="616696"/>
                  </a:lnTo>
                  <a:lnTo>
                    <a:pt x="5017311" y="621043"/>
                  </a:lnTo>
                  <a:close/>
                </a:path>
                <a:path w="5028565" h="647064">
                  <a:moveTo>
                    <a:pt x="4972074" y="646641"/>
                  </a:moveTo>
                  <a:lnTo>
                    <a:pt x="55009" y="646641"/>
                  </a:lnTo>
                  <a:lnTo>
                    <a:pt x="51106" y="646256"/>
                  </a:lnTo>
                  <a:lnTo>
                    <a:pt x="13731" y="626279"/>
                  </a:lnTo>
                  <a:lnTo>
                    <a:pt x="94" y="598340"/>
                  </a:lnTo>
                  <a:lnTo>
                    <a:pt x="0" y="597863"/>
                  </a:lnTo>
                  <a:lnTo>
                    <a:pt x="36181" y="621043"/>
                  </a:lnTo>
                  <a:lnTo>
                    <a:pt x="5017311" y="621043"/>
                  </a:lnTo>
                  <a:lnTo>
                    <a:pt x="5015837" y="623247"/>
                  </a:lnTo>
                  <a:lnTo>
                    <a:pt x="4983702" y="644718"/>
                  </a:lnTo>
                  <a:lnTo>
                    <a:pt x="4975975" y="646256"/>
                  </a:lnTo>
                  <a:lnTo>
                    <a:pt x="4972074" y="646641"/>
                  </a:lnTo>
                  <a:close/>
                </a:path>
              </a:pathLst>
            </a:custGeom>
            <a:solidFill>
              <a:srgbClr val="B1A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10249" y="4676774"/>
              <a:ext cx="5010150" cy="628650"/>
            </a:xfrm>
            <a:custGeom>
              <a:avLst/>
              <a:gdLst/>
              <a:ahLst/>
              <a:cxnLst/>
              <a:rect l="l" t="t" r="r" b="b"/>
              <a:pathLst>
                <a:path w="5010150" h="628650">
                  <a:moveTo>
                    <a:pt x="4962981" y="628649"/>
                  </a:moveTo>
                  <a:lnTo>
                    <a:pt x="47167" y="628649"/>
                  </a:lnTo>
                  <a:lnTo>
                    <a:pt x="43884" y="628326"/>
                  </a:lnTo>
                  <a:lnTo>
                    <a:pt x="10348" y="608969"/>
                  </a:lnTo>
                  <a:lnTo>
                    <a:pt x="0" y="581481"/>
                  </a:lnTo>
                  <a:lnTo>
                    <a:pt x="0" y="5781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4962981" y="0"/>
                  </a:lnTo>
                  <a:lnTo>
                    <a:pt x="4997706" y="17129"/>
                  </a:lnTo>
                  <a:lnTo>
                    <a:pt x="5010148" y="47167"/>
                  </a:lnTo>
                  <a:lnTo>
                    <a:pt x="5010148" y="581481"/>
                  </a:lnTo>
                  <a:lnTo>
                    <a:pt x="4993020" y="616207"/>
                  </a:lnTo>
                  <a:lnTo>
                    <a:pt x="4966263" y="628326"/>
                  </a:lnTo>
                  <a:lnTo>
                    <a:pt x="4962981" y="628649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10249" y="4676774"/>
              <a:ext cx="5010150" cy="628650"/>
            </a:xfrm>
            <a:custGeom>
              <a:avLst/>
              <a:gdLst/>
              <a:ahLst/>
              <a:cxnLst/>
              <a:rect l="l" t="t" r="r" b="b"/>
              <a:pathLst>
                <a:path w="5010150" h="628650">
                  <a:moveTo>
                    <a:pt x="0" y="578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3" y="34225"/>
                  </a:lnTo>
                  <a:lnTo>
                    <a:pt x="3842" y="31162"/>
                  </a:lnTo>
                  <a:lnTo>
                    <a:pt x="5110" y="28100"/>
                  </a:lnTo>
                  <a:lnTo>
                    <a:pt x="6665" y="25191"/>
                  </a:lnTo>
                  <a:lnTo>
                    <a:pt x="8507" y="22435"/>
                  </a:lnTo>
                  <a:lnTo>
                    <a:pt x="10348" y="19679"/>
                  </a:lnTo>
                  <a:lnTo>
                    <a:pt x="12441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0" y="6665"/>
                  </a:lnTo>
                  <a:lnTo>
                    <a:pt x="28099" y="5110"/>
                  </a:lnTo>
                  <a:lnTo>
                    <a:pt x="31162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4959666" y="0"/>
                  </a:lnTo>
                  <a:lnTo>
                    <a:pt x="4962981" y="0"/>
                  </a:lnTo>
                  <a:lnTo>
                    <a:pt x="4966263" y="323"/>
                  </a:lnTo>
                  <a:lnTo>
                    <a:pt x="4987713" y="8507"/>
                  </a:lnTo>
                  <a:lnTo>
                    <a:pt x="4990470" y="10349"/>
                  </a:lnTo>
                  <a:lnTo>
                    <a:pt x="4993020" y="12442"/>
                  </a:lnTo>
                  <a:lnTo>
                    <a:pt x="4995363" y="14786"/>
                  </a:lnTo>
                  <a:lnTo>
                    <a:pt x="4997706" y="17129"/>
                  </a:lnTo>
                  <a:lnTo>
                    <a:pt x="4999799" y="19679"/>
                  </a:lnTo>
                  <a:lnTo>
                    <a:pt x="5001639" y="22435"/>
                  </a:lnTo>
                  <a:lnTo>
                    <a:pt x="5003482" y="25191"/>
                  </a:lnTo>
                  <a:lnTo>
                    <a:pt x="5010149" y="50482"/>
                  </a:lnTo>
                  <a:lnTo>
                    <a:pt x="5010149" y="578167"/>
                  </a:lnTo>
                  <a:lnTo>
                    <a:pt x="5001640" y="606213"/>
                  </a:lnTo>
                  <a:lnTo>
                    <a:pt x="4999799" y="608969"/>
                  </a:lnTo>
                  <a:lnTo>
                    <a:pt x="4978984" y="624806"/>
                  </a:lnTo>
                  <a:lnTo>
                    <a:pt x="4975922" y="626074"/>
                  </a:lnTo>
                  <a:lnTo>
                    <a:pt x="4972765" y="627032"/>
                  </a:lnTo>
                  <a:lnTo>
                    <a:pt x="4969513" y="627679"/>
                  </a:lnTo>
                  <a:lnTo>
                    <a:pt x="4966263" y="628326"/>
                  </a:lnTo>
                  <a:lnTo>
                    <a:pt x="4962981" y="628649"/>
                  </a:lnTo>
                  <a:lnTo>
                    <a:pt x="4959666" y="628649"/>
                  </a:lnTo>
                  <a:lnTo>
                    <a:pt x="50482" y="628649"/>
                  </a:lnTo>
                  <a:lnTo>
                    <a:pt x="47167" y="628649"/>
                  </a:lnTo>
                  <a:lnTo>
                    <a:pt x="43884" y="628326"/>
                  </a:lnTo>
                  <a:lnTo>
                    <a:pt x="40633" y="627679"/>
                  </a:lnTo>
                  <a:lnTo>
                    <a:pt x="37382" y="627032"/>
                  </a:lnTo>
                  <a:lnTo>
                    <a:pt x="22434" y="620141"/>
                  </a:lnTo>
                  <a:lnTo>
                    <a:pt x="19678" y="618299"/>
                  </a:lnTo>
                  <a:lnTo>
                    <a:pt x="17129" y="616207"/>
                  </a:lnTo>
                  <a:lnTo>
                    <a:pt x="14785" y="613863"/>
                  </a:lnTo>
                  <a:lnTo>
                    <a:pt x="12441" y="611519"/>
                  </a:lnTo>
                  <a:lnTo>
                    <a:pt x="10348" y="608969"/>
                  </a:lnTo>
                  <a:lnTo>
                    <a:pt x="8507" y="606213"/>
                  </a:lnTo>
                  <a:lnTo>
                    <a:pt x="6665" y="603457"/>
                  </a:lnTo>
                  <a:lnTo>
                    <a:pt x="0" y="581481"/>
                  </a:lnTo>
                  <a:lnTo>
                    <a:pt x="0" y="578167"/>
                  </a:lnTo>
                  <a:close/>
                </a:path>
              </a:pathLst>
            </a:custGeom>
            <a:ln w="19049">
              <a:solidFill>
                <a:srgbClr val="B1A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87374" y="4849812"/>
            <a:ext cx="8616315" cy="897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35"/>
              </a:spcBef>
              <a:tabLst>
                <a:tab pos="5403215" algn="l"/>
              </a:tabLst>
            </a:pPr>
            <a:r>
              <a:rPr sz="1650" b="1" dirty="0">
                <a:latin typeface="Cambria"/>
                <a:cs typeface="Cambria"/>
              </a:rPr>
              <a:t>Improve</a:t>
            </a:r>
            <a:r>
              <a:rPr sz="1650" b="1" spc="3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Bed</a:t>
            </a:r>
            <a:r>
              <a:rPr sz="1650" b="1" spc="35" dirty="0">
                <a:latin typeface="Cambria"/>
                <a:cs typeface="Cambria"/>
              </a:rPr>
              <a:t> </a:t>
            </a:r>
            <a:r>
              <a:rPr sz="1650" b="1" spc="465" dirty="0">
                <a:latin typeface="Cambria"/>
                <a:cs typeface="Cambria"/>
              </a:rPr>
              <a:t>P</a:t>
            </a:r>
            <a:r>
              <a:rPr sz="1650" b="1" spc="35" dirty="0">
                <a:latin typeface="Cambria"/>
                <a:cs typeface="Cambria"/>
              </a:rPr>
              <a:t> </a:t>
            </a:r>
            <a:r>
              <a:rPr sz="1650" b="1" spc="90" dirty="0">
                <a:latin typeface="Cambria"/>
                <a:cs typeface="Cambria"/>
              </a:rPr>
              <a:t>OR</a:t>
            </a:r>
            <a:r>
              <a:rPr sz="1650" b="1" spc="10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Utilization</a:t>
            </a:r>
            <a:r>
              <a:rPr sz="1650" b="1" dirty="0">
                <a:latin typeface="Cambria"/>
                <a:cs typeface="Cambria"/>
              </a:rPr>
              <a:t>	Support</a:t>
            </a:r>
            <a:r>
              <a:rPr sz="1650" b="1" spc="8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Faster</a:t>
            </a:r>
            <a:r>
              <a:rPr sz="1650" b="1" spc="60" dirty="0">
                <a:latin typeface="Cambria"/>
                <a:cs typeface="Cambria"/>
              </a:rPr>
              <a:t> </a:t>
            </a:r>
            <a:r>
              <a:rPr sz="1650" b="1" spc="45" dirty="0">
                <a:latin typeface="Cambria"/>
                <a:cs typeface="Cambria"/>
              </a:rPr>
              <a:t>Decision-</a:t>
            </a:r>
            <a:r>
              <a:rPr sz="1650" b="1" spc="-10" dirty="0">
                <a:latin typeface="Cambria"/>
                <a:cs typeface="Cambria"/>
              </a:rPr>
              <a:t>Making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Flow: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Patient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75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Bed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Allocation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80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OR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6F655C"/>
                </a:solidFill>
                <a:latin typeface="Trebuchet MS"/>
                <a:cs typeface="Trebuchet MS"/>
              </a:rPr>
              <a:t>Scheduling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75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Staff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Coordination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80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Better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Patient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Care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Abstract</a:t>
            </a:r>
            <a:r>
              <a:rPr spc="-85" dirty="0"/>
              <a:t> </a:t>
            </a:r>
            <a:r>
              <a:rPr spc="-90" dirty="0"/>
              <a:t>(Key</a:t>
            </a:r>
            <a:r>
              <a:rPr spc="-95" dirty="0"/>
              <a:t> </a:t>
            </a:r>
            <a:r>
              <a:rPr spc="-45" dirty="0"/>
              <a:t>Points)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457324"/>
            <a:ext cx="407034" cy="407034"/>
            <a:chOff x="600074" y="1457324"/>
            <a:chExt cx="407034" cy="407034"/>
          </a:xfrm>
        </p:grpSpPr>
        <p:sp>
          <p:nvSpPr>
            <p:cNvPr id="5" name="object 5"/>
            <p:cNvSpPr/>
            <p:nvPr/>
          </p:nvSpPr>
          <p:spPr>
            <a:xfrm>
              <a:off x="617206" y="1474456"/>
              <a:ext cx="389890" cy="389890"/>
            </a:xfrm>
            <a:custGeom>
              <a:avLst/>
              <a:gdLst/>
              <a:ahLst/>
              <a:cxnLst/>
              <a:rect l="l" t="t" r="r" b="b"/>
              <a:pathLst>
                <a:path w="389890" h="389889">
                  <a:moveTo>
                    <a:pt x="378638" y="363868"/>
                  </a:moveTo>
                  <a:lnTo>
                    <a:pt x="320080" y="363868"/>
                  </a:lnTo>
                  <a:lnTo>
                    <a:pt x="326520" y="362587"/>
                  </a:lnTo>
                  <a:lnTo>
                    <a:pt x="338889" y="357463"/>
                  </a:lnTo>
                  <a:lnTo>
                    <a:pt x="362587" y="326519"/>
                  </a:lnTo>
                  <a:lnTo>
                    <a:pt x="363868" y="320080"/>
                  </a:lnTo>
                  <a:lnTo>
                    <a:pt x="363868" y="36181"/>
                  </a:lnTo>
                  <a:lnTo>
                    <a:pt x="344348" y="2445"/>
                  </a:lnTo>
                  <a:lnTo>
                    <a:pt x="340688" y="0"/>
                  </a:lnTo>
                  <a:lnTo>
                    <a:pt x="345030" y="863"/>
                  </a:lnTo>
                  <a:lnTo>
                    <a:pt x="377164" y="22335"/>
                  </a:lnTo>
                  <a:lnTo>
                    <a:pt x="389467" y="55009"/>
                  </a:lnTo>
                  <a:lnTo>
                    <a:pt x="389467" y="333399"/>
                  </a:lnTo>
                  <a:lnTo>
                    <a:pt x="381542" y="359521"/>
                  </a:lnTo>
                  <a:lnTo>
                    <a:pt x="378638" y="363868"/>
                  </a:lnTo>
                  <a:close/>
                </a:path>
                <a:path w="389890" h="389889">
                  <a:moveTo>
                    <a:pt x="333399" y="389467"/>
                  </a:moveTo>
                  <a:lnTo>
                    <a:pt x="55009" y="389467"/>
                  </a:lnTo>
                  <a:lnTo>
                    <a:pt x="51107" y="389082"/>
                  </a:lnTo>
                  <a:lnTo>
                    <a:pt x="13731" y="369105"/>
                  </a:lnTo>
                  <a:lnTo>
                    <a:pt x="95" y="341166"/>
                  </a:lnTo>
                  <a:lnTo>
                    <a:pt x="0" y="340688"/>
                  </a:lnTo>
                  <a:lnTo>
                    <a:pt x="36181" y="363868"/>
                  </a:lnTo>
                  <a:lnTo>
                    <a:pt x="378638" y="363868"/>
                  </a:lnTo>
                  <a:lnTo>
                    <a:pt x="377164" y="366073"/>
                  </a:lnTo>
                  <a:lnTo>
                    <a:pt x="345030" y="387545"/>
                  </a:lnTo>
                  <a:lnTo>
                    <a:pt x="337301" y="389082"/>
                  </a:lnTo>
                  <a:lnTo>
                    <a:pt x="333399" y="389467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146685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24307" y="371474"/>
                  </a:moveTo>
                  <a:lnTo>
                    <a:pt x="47167" y="371474"/>
                  </a:lnTo>
                  <a:lnTo>
                    <a:pt x="43884" y="371151"/>
                  </a:lnTo>
                  <a:lnTo>
                    <a:pt x="10349" y="351794"/>
                  </a:lnTo>
                  <a:lnTo>
                    <a:pt x="0" y="324307"/>
                  </a:lnTo>
                  <a:lnTo>
                    <a:pt x="0" y="32099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4307" y="0"/>
                  </a:lnTo>
                  <a:lnTo>
                    <a:pt x="359032" y="17129"/>
                  </a:lnTo>
                  <a:lnTo>
                    <a:pt x="371474" y="47167"/>
                  </a:lnTo>
                  <a:lnTo>
                    <a:pt x="371474" y="324307"/>
                  </a:lnTo>
                  <a:lnTo>
                    <a:pt x="354345" y="359032"/>
                  </a:lnTo>
                  <a:lnTo>
                    <a:pt x="327590" y="371151"/>
                  </a:lnTo>
                  <a:lnTo>
                    <a:pt x="324307" y="371474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1466849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56688" y="14785"/>
                  </a:lnTo>
                  <a:lnTo>
                    <a:pt x="359032" y="17129"/>
                  </a:lnTo>
                  <a:lnTo>
                    <a:pt x="361125" y="19679"/>
                  </a:lnTo>
                  <a:lnTo>
                    <a:pt x="362967" y="22435"/>
                  </a:lnTo>
                  <a:lnTo>
                    <a:pt x="364808" y="25191"/>
                  </a:lnTo>
                  <a:lnTo>
                    <a:pt x="366363" y="28101"/>
                  </a:lnTo>
                  <a:lnTo>
                    <a:pt x="367632" y="31163"/>
                  </a:lnTo>
                  <a:lnTo>
                    <a:pt x="368900" y="34225"/>
                  </a:lnTo>
                  <a:lnTo>
                    <a:pt x="371475" y="50482"/>
                  </a:lnTo>
                  <a:lnTo>
                    <a:pt x="371475" y="320992"/>
                  </a:lnTo>
                  <a:lnTo>
                    <a:pt x="362967" y="349038"/>
                  </a:lnTo>
                  <a:lnTo>
                    <a:pt x="361125" y="351794"/>
                  </a:lnTo>
                  <a:lnTo>
                    <a:pt x="349039" y="362967"/>
                  </a:lnTo>
                  <a:lnTo>
                    <a:pt x="346282" y="364808"/>
                  </a:lnTo>
                  <a:lnTo>
                    <a:pt x="343373" y="366363"/>
                  </a:lnTo>
                  <a:lnTo>
                    <a:pt x="340311" y="367632"/>
                  </a:lnTo>
                  <a:lnTo>
                    <a:pt x="337248" y="368900"/>
                  </a:lnTo>
                  <a:lnTo>
                    <a:pt x="334092" y="369858"/>
                  </a:lnTo>
                  <a:lnTo>
                    <a:pt x="330841" y="370504"/>
                  </a:lnTo>
                  <a:lnTo>
                    <a:pt x="327590" y="371151"/>
                  </a:lnTo>
                  <a:lnTo>
                    <a:pt x="324307" y="371474"/>
                  </a:lnTo>
                  <a:lnTo>
                    <a:pt x="320992" y="371474"/>
                  </a:lnTo>
                  <a:lnTo>
                    <a:pt x="50482" y="371474"/>
                  </a:lnTo>
                  <a:lnTo>
                    <a:pt x="47167" y="371474"/>
                  </a:lnTo>
                  <a:lnTo>
                    <a:pt x="43884" y="371151"/>
                  </a:lnTo>
                  <a:lnTo>
                    <a:pt x="40633" y="370504"/>
                  </a:lnTo>
                  <a:lnTo>
                    <a:pt x="37382" y="369858"/>
                  </a:lnTo>
                  <a:lnTo>
                    <a:pt x="8507" y="349038"/>
                  </a:lnTo>
                  <a:lnTo>
                    <a:pt x="6666" y="346282"/>
                  </a:lnTo>
                  <a:lnTo>
                    <a:pt x="969" y="330840"/>
                  </a:lnTo>
                  <a:lnTo>
                    <a:pt x="323" y="327589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0074" y="2847974"/>
            <a:ext cx="407034" cy="397510"/>
            <a:chOff x="600074" y="2847974"/>
            <a:chExt cx="407034" cy="397510"/>
          </a:xfrm>
        </p:grpSpPr>
        <p:sp>
          <p:nvSpPr>
            <p:cNvPr id="9" name="object 9"/>
            <p:cNvSpPr/>
            <p:nvPr/>
          </p:nvSpPr>
          <p:spPr>
            <a:xfrm>
              <a:off x="617206" y="2865105"/>
              <a:ext cx="389890" cy="380365"/>
            </a:xfrm>
            <a:custGeom>
              <a:avLst/>
              <a:gdLst/>
              <a:ahLst/>
              <a:cxnLst/>
              <a:rect l="l" t="t" r="r" b="b"/>
              <a:pathLst>
                <a:path w="389890" h="380364">
                  <a:moveTo>
                    <a:pt x="378638" y="354343"/>
                  </a:moveTo>
                  <a:lnTo>
                    <a:pt x="320080" y="354343"/>
                  </a:lnTo>
                  <a:lnTo>
                    <a:pt x="326520" y="353062"/>
                  </a:lnTo>
                  <a:lnTo>
                    <a:pt x="338889" y="347939"/>
                  </a:lnTo>
                  <a:lnTo>
                    <a:pt x="362587" y="316995"/>
                  </a:lnTo>
                  <a:lnTo>
                    <a:pt x="363868" y="310555"/>
                  </a:lnTo>
                  <a:lnTo>
                    <a:pt x="363868" y="36181"/>
                  </a:lnTo>
                  <a:lnTo>
                    <a:pt x="344348" y="2446"/>
                  </a:lnTo>
                  <a:lnTo>
                    <a:pt x="340688" y="0"/>
                  </a:lnTo>
                  <a:lnTo>
                    <a:pt x="345030" y="863"/>
                  </a:lnTo>
                  <a:lnTo>
                    <a:pt x="377164" y="22335"/>
                  </a:lnTo>
                  <a:lnTo>
                    <a:pt x="389466" y="55009"/>
                  </a:lnTo>
                  <a:lnTo>
                    <a:pt x="389466" y="323875"/>
                  </a:lnTo>
                  <a:lnTo>
                    <a:pt x="381542" y="349996"/>
                  </a:lnTo>
                  <a:lnTo>
                    <a:pt x="378638" y="354343"/>
                  </a:lnTo>
                  <a:close/>
                </a:path>
                <a:path w="389890" h="380364">
                  <a:moveTo>
                    <a:pt x="333399" y="379942"/>
                  </a:moveTo>
                  <a:lnTo>
                    <a:pt x="55009" y="379942"/>
                  </a:lnTo>
                  <a:lnTo>
                    <a:pt x="51107" y="379558"/>
                  </a:lnTo>
                  <a:lnTo>
                    <a:pt x="13731" y="359580"/>
                  </a:lnTo>
                  <a:lnTo>
                    <a:pt x="0" y="331163"/>
                  </a:lnTo>
                  <a:lnTo>
                    <a:pt x="2445" y="334824"/>
                  </a:lnTo>
                  <a:lnTo>
                    <a:pt x="11913" y="344291"/>
                  </a:lnTo>
                  <a:lnTo>
                    <a:pt x="17372" y="347939"/>
                  </a:lnTo>
                  <a:lnTo>
                    <a:pt x="29742" y="353062"/>
                  </a:lnTo>
                  <a:lnTo>
                    <a:pt x="36181" y="354343"/>
                  </a:lnTo>
                  <a:lnTo>
                    <a:pt x="378638" y="354343"/>
                  </a:lnTo>
                  <a:lnTo>
                    <a:pt x="377164" y="356548"/>
                  </a:lnTo>
                  <a:lnTo>
                    <a:pt x="345030" y="378020"/>
                  </a:lnTo>
                  <a:lnTo>
                    <a:pt x="337301" y="379558"/>
                  </a:lnTo>
                  <a:lnTo>
                    <a:pt x="333399" y="379942"/>
                  </a:lnTo>
                  <a:close/>
                </a:path>
              </a:pathLst>
            </a:custGeom>
            <a:solidFill>
              <a:srgbClr val="B1A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599" y="285749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324307" y="361949"/>
                  </a:moveTo>
                  <a:lnTo>
                    <a:pt x="47167" y="361949"/>
                  </a:lnTo>
                  <a:lnTo>
                    <a:pt x="43884" y="361626"/>
                  </a:lnTo>
                  <a:lnTo>
                    <a:pt x="10349" y="342269"/>
                  </a:lnTo>
                  <a:lnTo>
                    <a:pt x="0" y="314782"/>
                  </a:lnTo>
                  <a:lnTo>
                    <a:pt x="0" y="3114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4307" y="0"/>
                  </a:lnTo>
                  <a:lnTo>
                    <a:pt x="359032" y="17129"/>
                  </a:lnTo>
                  <a:lnTo>
                    <a:pt x="371474" y="47167"/>
                  </a:lnTo>
                  <a:lnTo>
                    <a:pt x="371474" y="314782"/>
                  </a:lnTo>
                  <a:lnTo>
                    <a:pt x="354345" y="349507"/>
                  </a:lnTo>
                  <a:lnTo>
                    <a:pt x="327590" y="361626"/>
                  </a:lnTo>
                  <a:lnTo>
                    <a:pt x="324307" y="361949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99" y="285749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3114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6"/>
                  </a:lnTo>
                  <a:lnTo>
                    <a:pt x="28101" y="5111"/>
                  </a:lnTo>
                  <a:lnTo>
                    <a:pt x="31163" y="3842"/>
                  </a:lnTo>
                  <a:lnTo>
                    <a:pt x="34225" y="2574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24307" y="0"/>
                  </a:lnTo>
                  <a:lnTo>
                    <a:pt x="327590" y="323"/>
                  </a:lnTo>
                  <a:lnTo>
                    <a:pt x="356688" y="14785"/>
                  </a:lnTo>
                  <a:lnTo>
                    <a:pt x="359032" y="17129"/>
                  </a:lnTo>
                  <a:lnTo>
                    <a:pt x="361125" y="19679"/>
                  </a:lnTo>
                  <a:lnTo>
                    <a:pt x="362967" y="22435"/>
                  </a:lnTo>
                  <a:lnTo>
                    <a:pt x="364808" y="25191"/>
                  </a:lnTo>
                  <a:lnTo>
                    <a:pt x="366363" y="28100"/>
                  </a:lnTo>
                  <a:lnTo>
                    <a:pt x="367632" y="31163"/>
                  </a:lnTo>
                  <a:lnTo>
                    <a:pt x="368900" y="34225"/>
                  </a:lnTo>
                  <a:lnTo>
                    <a:pt x="369858" y="37382"/>
                  </a:lnTo>
                  <a:lnTo>
                    <a:pt x="370504" y="40633"/>
                  </a:lnTo>
                  <a:lnTo>
                    <a:pt x="371151" y="43884"/>
                  </a:lnTo>
                  <a:lnTo>
                    <a:pt x="371474" y="47167"/>
                  </a:lnTo>
                  <a:lnTo>
                    <a:pt x="371475" y="50482"/>
                  </a:lnTo>
                  <a:lnTo>
                    <a:pt x="371475" y="311467"/>
                  </a:lnTo>
                  <a:lnTo>
                    <a:pt x="367632" y="330785"/>
                  </a:lnTo>
                  <a:lnTo>
                    <a:pt x="366363" y="333848"/>
                  </a:lnTo>
                  <a:lnTo>
                    <a:pt x="364808" y="336757"/>
                  </a:lnTo>
                  <a:lnTo>
                    <a:pt x="362967" y="339513"/>
                  </a:lnTo>
                  <a:lnTo>
                    <a:pt x="361125" y="342270"/>
                  </a:lnTo>
                  <a:lnTo>
                    <a:pt x="359032" y="344820"/>
                  </a:lnTo>
                  <a:lnTo>
                    <a:pt x="356688" y="347163"/>
                  </a:lnTo>
                  <a:lnTo>
                    <a:pt x="354345" y="349507"/>
                  </a:lnTo>
                  <a:lnTo>
                    <a:pt x="340311" y="358106"/>
                  </a:lnTo>
                  <a:lnTo>
                    <a:pt x="337248" y="359375"/>
                  </a:lnTo>
                  <a:lnTo>
                    <a:pt x="320992" y="361949"/>
                  </a:lnTo>
                  <a:lnTo>
                    <a:pt x="50482" y="361949"/>
                  </a:lnTo>
                  <a:lnTo>
                    <a:pt x="47167" y="361949"/>
                  </a:lnTo>
                  <a:lnTo>
                    <a:pt x="43884" y="361626"/>
                  </a:lnTo>
                  <a:lnTo>
                    <a:pt x="40633" y="360979"/>
                  </a:lnTo>
                  <a:lnTo>
                    <a:pt x="37382" y="360332"/>
                  </a:lnTo>
                  <a:lnTo>
                    <a:pt x="14785" y="347163"/>
                  </a:lnTo>
                  <a:lnTo>
                    <a:pt x="12442" y="344819"/>
                  </a:lnTo>
                  <a:lnTo>
                    <a:pt x="10349" y="342269"/>
                  </a:lnTo>
                  <a:lnTo>
                    <a:pt x="8507" y="339513"/>
                  </a:lnTo>
                  <a:lnTo>
                    <a:pt x="6666" y="336757"/>
                  </a:lnTo>
                  <a:lnTo>
                    <a:pt x="0" y="314782"/>
                  </a:lnTo>
                  <a:lnTo>
                    <a:pt x="0" y="311467"/>
                  </a:lnTo>
                  <a:close/>
                </a:path>
              </a:pathLst>
            </a:custGeom>
            <a:ln w="19049">
              <a:solidFill>
                <a:srgbClr val="B1A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44587" y="1506537"/>
            <a:ext cx="4216400" cy="2350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Purpose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Automate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bed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&amp;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OR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scheduling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to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improve</a:t>
            </a:r>
            <a:r>
              <a:rPr sz="1350" spc="-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efficiency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and</a:t>
            </a:r>
            <a:r>
              <a:rPr sz="1350" spc="7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reduce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conflicts.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Approach</a:t>
            </a:r>
            <a:endParaRPr sz="1650">
              <a:latin typeface="Cambria"/>
              <a:cs typeface="Cambria"/>
            </a:endParaRPr>
          </a:p>
          <a:p>
            <a:pPr marL="12700" marR="46990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Consider</a:t>
            </a:r>
            <a:r>
              <a:rPr sz="1350" spc="1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admissions,</a:t>
            </a:r>
            <a:r>
              <a:rPr sz="1350" spc="1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priorities,</a:t>
            </a:r>
            <a:r>
              <a:rPr sz="1350" spc="1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availability,</a:t>
            </a:r>
            <a:r>
              <a:rPr sz="1350" spc="8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capacity,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and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staff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schedules.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4" y="4238624"/>
            <a:ext cx="407034" cy="397510"/>
            <a:chOff x="600074" y="4238624"/>
            <a:chExt cx="407034" cy="397510"/>
          </a:xfrm>
        </p:grpSpPr>
        <p:sp>
          <p:nvSpPr>
            <p:cNvPr id="14" name="object 14"/>
            <p:cNvSpPr/>
            <p:nvPr/>
          </p:nvSpPr>
          <p:spPr>
            <a:xfrm>
              <a:off x="617206" y="4255755"/>
              <a:ext cx="389890" cy="380365"/>
            </a:xfrm>
            <a:custGeom>
              <a:avLst/>
              <a:gdLst/>
              <a:ahLst/>
              <a:cxnLst/>
              <a:rect l="l" t="t" r="r" b="b"/>
              <a:pathLst>
                <a:path w="389890" h="380364">
                  <a:moveTo>
                    <a:pt x="378638" y="354343"/>
                  </a:moveTo>
                  <a:lnTo>
                    <a:pt x="320080" y="354343"/>
                  </a:lnTo>
                  <a:lnTo>
                    <a:pt x="326519" y="353062"/>
                  </a:lnTo>
                  <a:lnTo>
                    <a:pt x="338889" y="347938"/>
                  </a:lnTo>
                  <a:lnTo>
                    <a:pt x="362587" y="316995"/>
                  </a:lnTo>
                  <a:lnTo>
                    <a:pt x="363868" y="310555"/>
                  </a:lnTo>
                  <a:lnTo>
                    <a:pt x="363868" y="36181"/>
                  </a:lnTo>
                  <a:lnTo>
                    <a:pt x="344348" y="2445"/>
                  </a:lnTo>
                  <a:lnTo>
                    <a:pt x="340688" y="0"/>
                  </a:lnTo>
                  <a:lnTo>
                    <a:pt x="345030" y="863"/>
                  </a:lnTo>
                  <a:lnTo>
                    <a:pt x="377164" y="22334"/>
                  </a:lnTo>
                  <a:lnTo>
                    <a:pt x="389466" y="55009"/>
                  </a:lnTo>
                  <a:lnTo>
                    <a:pt x="389466" y="323875"/>
                  </a:lnTo>
                  <a:lnTo>
                    <a:pt x="381542" y="349996"/>
                  </a:lnTo>
                  <a:lnTo>
                    <a:pt x="378638" y="354343"/>
                  </a:lnTo>
                  <a:close/>
                </a:path>
                <a:path w="389890" h="380364">
                  <a:moveTo>
                    <a:pt x="333399" y="379941"/>
                  </a:moveTo>
                  <a:lnTo>
                    <a:pt x="55009" y="379941"/>
                  </a:lnTo>
                  <a:lnTo>
                    <a:pt x="51106" y="379557"/>
                  </a:lnTo>
                  <a:lnTo>
                    <a:pt x="13731" y="359579"/>
                  </a:lnTo>
                  <a:lnTo>
                    <a:pt x="94" y="331641"/>
                  </a:lnTo>
                  <a:lnTo>
                    <a:pt x="0" y="331163"/>
                  </a:lnTo>
                  <a:lnTo>
                    <a:pt x="36181" y="354343"/>
                  </a:lnTo>
                  <a:lnTo>
                    <a:pt x="378638" y="354343"/>
                  </a:lnTo>
                  <a:lnTo>
                    <a:pt x="377164" y="356548"/>
                  </a:lnTo>
                  <a:lnTo>
                    <a:pt x="345031" y="378019"/>
                  </a:lnTo>
                  <a:lnTo>
                    <a:pt x="337301" y="379557"/>
                  </a:lnTo>
                  <a:lnTo>
                    <a:pt x="333399" y="379941"/>
                  </a:lnTo>
                  <a:close/>
                </a:path>
              </a:pathLst>
            </a:custGeom>
            <a:solidFill>
              <a:srgbClr val="99B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424814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324307" y="361949"/>
                  </a:moveTo>
                  <a:lnTo>
                    <a:pt x="47167" y="361949"/>
                  </a:lnTo>
                  <a:lnTo>
                    <a:pt x="43884" y="361626"/>
                  </a:lnTo>
                  <a:lnTo>
                    <a:pt x="10349" y="342269"/>
                  </a:lnTo>
                  <a:lnTo>
                    <a:pt x="0" y="314782"/>
                  </a:lnTo>
                  <a:lnTo>
                    <a:pt x="0" y="3114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4307" y="0"/>
                  </a:lnTo>
                  <a:lnTo>
                    <a:pt x="359032" y="17129"/>
                  </a:lnTo>
                  <a:lnTo>
                    <a:pt x="371474" y="47167"/>
                  </a:lnTo>
                  <a:lnTo>
                    <a:pt x="371474" y="314782"/>
                  </a:lnTo>
                  <a:lnTo>
                    <a:pt x="354345" y="349507"/>
                  </a:lnTo>
                  <a:lnTo>
                    <a:pt x="327590" y="361626"/>
                  </a:lnTo>
                  <a:lnTo>
                    <a:pt x="324307" y="361949"/>
                  </a:lnTo>
                  <a:close/>
                </a:path>
              </a:pathLst>
            </a:custGeom>
            <a:solidFill>
              <a:srgbClr val="D9E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99" y="424814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3114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6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24307" y="0"/>
                  </a:lnTo>
                  <a:lnTo>
                    <a:pt x="327590" y="323"/>
                  </a:lnTo>
                  <a:lnTo>
                    <a:pt x="330841" y="970"/>
                  </a:lnTo>
                  <a:lnTo>
                    <a:pt x="334092" y="1616"/>
                  </a:lnTo>
                  <a:lnTo>
                    <a:pt x="337248" y="2573"/>
                  </a:lnTo>
                  <a:lnTo>
                    <a:pt x="340311" y="3842"/>
                  </a:lnTo>
                  <a:lnTo>
                    <a:pt x="343373" y="5111"/>
                  </a:lnTo>
                  <a:lnTo>
                    <a:pt x="356688" y="14786"/>
                  </a:lnTo>
                  <a:lnTo>
                    <a:pt x="359032" y="17129"/>
                  </a:lnTo>
                  <a:lnTo>
                    <a:pt x="370504" y="40633"/>
                  </a:lnTo>
                  <a:lnTo>
                    <a:pt x="371151" y="43884"/>
                  </a:lnTo>
                  <a:lnTo>
                    <a:pt x="371474" y="47167"/>
                  </a:lnTo>
                  <a:lnTo>
                    <a:pt x="371475" y="50482"/>
                  </a:lnTo>
                  <a:lnTo>
                    <a:pt x="371475" y="311467"/>
                  </a:lnTo>
                  <a:lnTo>
                    <a:pt x="367632" y="330786"/>
                  </a:lnTo>
                  <a:lnTo>
                    <a:pt x="366363" y="333848"/>
                  </a:lnTo>
                  <a:lnTo>
                    <a:pt x="349039" y="353441"/>
                  </a:lnTo>
                  <a:lnTo>
                    <a:pt x="346282" y="355283"/>
                  </a:lnTo>
                  <a:lnTo>
                    <a:pt x="343373" y="356838"/>
                  </a:lnTo>
                  <a:lnTo>
                    <a:pt x="340311" y="358106"/>
                  </a:lnTo>
                  <a:lnTo>
                    <a:pt x="337248" y="359375"/>
                  </a:lnTo>
                  <a:lnTo>
                    <a:pt x="334092" y="360333"/>
                  </a:lnTo>
                  <a:lnTo>
                    <a:pt x="330841" y="360979"/>
                  </a:lnTo>
                  <a:lnTo>
                    <a:pt x="327590" y="361626"/>
                  </a:lnTo>
                  <a:lnTo>
                    <a:pt x="324307" y="361949"/>
                  </a:lnTo>
                  <a:lnTo>
                    <a:pt x="320992" y="361949"/>
                  </a:lnTo>
                  <a:lnTo>
                    <a:pt x="50482" y="361949"/>
                  </a:lnTo>
                  <a:lnTo>
                    <a:pt x="47167" y="361949"/>
                  </a:lnTo>
                  <a:lnTo>
                    <a:pt x="43884" y="361626"/>
                  </a:lnTo>
                  <a:lnTo>
                    <a:pt x="40633" y="360979"/>
                  </a:lnTo>
                  <a:lnTo>
                    <a:pt x="37382" y="360333"/>
                  </a:lnTo>
                  <a:lnTo>
                    <a:pt x="34226" y="359375"/>
                  </a:lnTo>
                  <a:lnTo>
                    <a:pt x="31163" y="358106"/>
                  </a:lnTo>
                  <a:lnTo>
                    <a:pt x="28101" y="356838"/>
                  </a:lnTo>
                  <a:lnTo>
                    <a:pt x="25192" y="355283"/>
                  </a:lnTo>
                  <a:lnTo>
                    <a:pt x="22435" y="353441"/>
                  </a:lnTo>
                  <a:lnTo>
                    <a:pt x="19679" y="351600"/>
                  </a:lnTo>
                  <a:lnTo>
                    <a:pt x="8507" y="339513"/>
                  </a:lnTo>
                  <a:lnTo>
                    <a:pt x="6666" y="336757"/>
                  </a:lnTo>
                  <a:lnTo>
                    <a:pt x="0" y="314782"/>
                  </a:lnTo>
                  <a:lnTo>
                    <a:pt x="0" y="311467"/>
                  </a:lnTo>
                  <a:close/>
                </a:path>
              </a:pathLst>
            </a:custGeom>
            <a:ln w="19049">
              <a:solidFill>
                <a:srgbClr val="99BF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44587" y="4287837"/>
            <a:ext cx="3808095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Capabilities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Real-time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monitoring,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conflict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minimization,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and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informed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admin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decisions.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4" y="5629274"/>
            <a:ext cx="407034" cy="397510"/>
            <a:chOff x="600074" y="5629274"/>
            <a:chExt cx="407034" cy="397510"/>
          </a:xfrm>
        </p:grpSpPr>
        <p:sp>
          <p:nvSpPr>
            <p:cNvPr id="19" name="object 19"/>
            <p:cNvSpPr/>
            <p:nvPr/>
          </p:nvSpPr>
          <p:spPr>
            <a:xfrm>
              <a:off x="617206" y="5646404"/>
              <a:ext cx="389890" cy="380365"/>
            </a:xfrm>
            <a:custGeom>
              <a:avLst/>
              <a:gdLst/>
              <a:ahLst/>
              <a:cxnLst/>
              <a:rect l="l" t="t" r="r" b="b"/>
              <a:pathLst>
                <a:path w="389890" h="380364">
                  <a:moveTo>
                    <a:pt x="378637" y="354344"/>
                  </a:moveTo>
                  <a:lnTo>
                    <a:pt x="320080" y="354344"/>
                  </a:lnTo>
                  <a:lnTo>
                    <a:pt x="326519" y="353063"/>
                  </a:lnTo>
                  <a:lnTo>
                    <a:pt x="338889" y="347939"/>
                  </a:lnTo>
                  <a:lnTo>
                    <a:pt x="362587" y="316995"/>
                  </a:lnTo>
                  <a:lnTo>
                    <a:pt x="363868" y="310556"/>
                  </a:lnTo>
                  <a:lnTo>
                    <a:pt x="363868" y="36182"/>
                  </a:lnTo>
                  <a:lnTo>
                    <a:pt x="344348" y="2446"/>
                  </a:lnTo>
                  <a:lnTo>
                    <a:pt x="340687" y="0"/>
                  </a:lnTo>
                  <a:lnTo>
                    <a:pt x="345030" y="863"/>
                  </a:lnTo>
                  <a:lnTo>
                    <a:pt x="377164" y="22334"/>
                  </a:lnTo>
                  <a:lnTo>
                    <a:pt x="389466" y="55009"/>
                  </a:lnTo>
                  <a:lnTo>
                    <a:pt x="389466" y="323875"/>
                  </a:lnTo>
                  <a:lnTo>
                    <a:pt x="381542" y="349997"/>
                  </a:lnTo>
                  <a:lnTo>
                    <a:pt x="378637" y="354344"/>
                  </a:lnTo>
                  <a:close/>
                </a:path>
                <a:path w="389890" h="380364">
                  <a:moveTo>
                    <a:pt x="333399" y="379942"/>
                  </a:moveTo>
                  <a:lnTo>
                    <a:pt x="55009" y="379942"/>
                  </a:lnTo>
                  <a:lnTo>
                    <a:pt x="51106" y="379558"/>
                  </a:lnTo>
                  <a:lnTo>
                    <a:pt x="13731" y="359580"/>
                  </a:lnTo>
                  <a:lnTo>
                    <a:pt x="94" y="331641"/>
                  </a:lnTo>
                  <a:lnTo>
                    <a:pt x="0" y="331164"/>
                  </a:lnTo>
                  <a:lnTo>
                    <a:pt x="36181" y="354344"/>
                  </a:lnTo>
                  <a:lnTo>
                    <a:pt x="378637" y="354344"/>
                  </a:lnTo>
                  <a:lnTo>
                    <a:pt x="377164" y="356548"/>
                  </a:lnTo>
                  <a:lnTo>
                    <a:pt x="345032" y="378020"/>
                  </a:lnTo>
                  <a:lnTo>
                    <a:pt x="337301" y="379558"/>
                  </a:lnTo>
                  <a:lnTo>
                    <a:pt x="333399" y="379942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99" y="563879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324307" y="361949"/>
                  </a:moveTo>
                  <a:lnTo>
                    <a:pt x="47167" y="361949"/>
                  </a:lnTo>
                  <a:lnTo>
                    <a:pt x="43884" y="361626"/>
                  </a:lnTo>
                  <a:lnTo>
                    <a:pt x="10349" y="342269"/>
                  </a:lnTo>
                  <a:lnTo>
                    <a:pt x="0" y="314781"/>
                  </a:lnTo>
                  <a:lnTo>
                    <a:pt x="0" y="311467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324307" y="0"/>
                  </a:lnTo>
                  <a:lnTo>
                    <a:pt x="359032" y="17129"/>
                  </a:lnTo>
                  <a:lnTo>
                    <a:pt x="371474" y="47167"/>
                  </a:lnTo>
                  <a:lnTo>
                    <a:pt x="371474" y="314781"/>
                  </a:lnTo>
                  <a:lnTo>
                    <a:pt x="354345" y="349507"/>
                  </a:lnTo>
                  <a:lnTo>
                    <a:pt x="327590" y="361626"/>
                  </a:lnTo>
                  <a:lnTo>
                    <a:pt x="324307" y="361949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599" y="5638799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3114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24307" y="0"/>
                  </a:lnTo>
                  <a:lnTo>
                    <a:pt x="327590" y="323"/>
                  </a:lnTo>
                  <a:lnTo>
                    <a:pt x="356688" y="14785"/>
                  </a:lnTo>
                  <a:lnTo>
                    <a:pt x="359032" y="17129"/>
                  </a:lnTo>
                  <a:lnTo>
                    <a:pt x="361125" y="19679"/>
                  </a:lnTo>
                  <a:lnTo>
                    <a:pt x="362967" y="22435"/>
                  </a:lnTo>
                  <a:lnTo>
                    <a:pt x="364808" y="25191"/>
                  </a:lnTo>
                  <a:lnTo>
                    <a:pt x="366363" y="28100"/>
                  </a:lnTo>
                  <a:lnTo>
                    <a:pt x="367632" y="31163"/>
                  </a:lnTo>
                  <a:lnTo>
                    <a:pt x="368900" y="34225"/>
                  </a:lnTo>
                  <a:lnTo>
                    <a:pt x="371475" y="50482"/>
                  </a:lnTo>
                  <a:lnTo>
                    <a:pt x="371475" y="311467"/>
                  </a:lnTo>
                  <a:lnTo>
                    <a:pt x="356688" y="347163"/>
                  </a:lnTo>
                  <a:lnTo>
                    <a:pt x="354345" y="349507"/>
                  </a:lnTo>
                  <a:lnTo>
                    <a:pt x="340311" y="358106"/>
                  </a:lnTo>
                  <a:lnTo>
                    <a:pt x="337248" y="359375"/>
                  </a:lnTo>
                  <a:lnTo>
                    <a:pt x="334092" y="360332"/>
                  </a:lnTo>
                  <a:lnTo>
                    <a:pt x="330841" y="360979"/>
                  </a:lnTo>
                  <a:lnTo>
                    <a:pt x="327590" y="361626"/>
                  </a:lnTo>
                  <a:lnTo>
                    <a:pt x="324307" y="361949"/>
                  </a:lnTo>
                  <a:lnTo>
                    <a:pt x="320992" y="361949"/>
                  </a:lnTo>
                  <a:lnTo>
                    <a:pt x="50482" y="361949"/>
                  </a:lnTo>
                  <a:lnTo>
                    <a:pt x="47167" y="361949"/>
                  </a:lnTo>
                  <a:lnTo>
                    <a:pt x="43884" y="361626"/>
                  </a:lnTo>
                  <a:lnTo>
                    <a:pt x="40633" y="360979"/>
                  </a:lnTo>
                  <a:lnTo>
                    <a:pt x="37382" y="360332"/>
                  </a:lnTo>
                  <a:lnTo>
                    <a:pt x="14785" y="347163"/>
                  </a:lnTo>
                  <a:lnTo>
                    <a:pt x="12442" y="344819"/>
                  </a:lnTo>
                  <a:lnTo>
                    <a:pt x="10349" y="342269"/>
                  </a:lnTo>
                  <a:lnTo>
                    <a:pt x="8507" y="339512"/>
                  </a:lnTo>
                  <a:lnTo>
                    <a:pt x="6666" y="336756"/>
                  </a:lnTo>
                  <a:lnTo>
                    <a:pt x="0" y="314781"/>
                  </a:lnTo>
                  <a:lnTo>
                    <a:pt x="0" y="311467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44587" y="5678487"/>
            <a:ext cx="3796029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Benefits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Reduced</a:t>
            </a:r>
            <a:r>
              <a:rPr sz="1350" spc="-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waiting,</a:t>
            </a:r>
            <a:r>
              <a:rPr sz="1350" spc="-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better</a:t>
            </a:r>
            <a:r>
              <a:rPr sz="1350" spc="-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utilization,</a:t>
            </a:r>
            <a:r>
              <a:rPr sz="1350" spc="-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lower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admin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workload,</a:t>
            </a:r>
            <a:r>
              <a:rPr sz="1350" spc="8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scalable</a:t>
            </a:r>
            <a:r>
              <a:rPr sz="1350" spc="6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design.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074" y="1971675"/>
            <a:ext cx="4905374" cy="27812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920928" y="4879339"/>
            <a:ext cx="442087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dirty="0">
                <a:solidFill>
                  <a:srgbClr val="6F655C"/>
                </a:solidFill>
                <a:latin typeface="Trebuchet MS"/>
                <a:cs typeface="Trebuchet MS"/>
              </a:rPr>
              <a:t>Core</a:t>
            </a:r>
            <a:r>
              <a:rPr sz="1350" b="1" spc="-7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6F655C"/>
                </a:solidFill>
                <a:latin typeface="Trebuchet MS"/>
                <a:cs typeface="Trebuchet MS"/>
              </a:rPr>
              <a:t>Inputs:</a:t>
            </a:r>
            <a:r>
              <a:rPr sz="1350" b="1" spc="-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Patient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Admissions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365" dirty="0">
                <a:solidFill>
                  <a:srgbClr val="6F655C"/>
                </a:solidFill>
                <a:latin typeface="Trebuchet MS"/>
                <a:cs typeface="Trebuchet MS"/>
              </a:rPr>
              <a:t>|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Surgery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Priority</a:t>
            </a:r>
            <a:r>
              <a:rPr sz="1350" spc="-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365" dirty="0">
                <a:solidFill>
                  <a:srgbClr val="6F655C"/>
                </a:solidFill>
                <a:latin typeface="Trebuchet MS"/>
                <a:cs typeface="Trebuchet MS"/>
              </a:rPr>
              <a:t>|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Bed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Availability </a:t>
            </a:r>
            <a:r>
              <a:rPr sz="1350" spc="-365" dirty="0">
                <a:solidFill>
                  <a:srgbClr val="6F655C"/>
                </a:solidFill>
                <a:latin typeface="Trebuchet MS"/>
                <a:cs typeface="Trebuchet MS"/>
              </a:rPr>
              <a:t>|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OR</a:t>
            </a:r>
            <a:r>
              <a:rPr sz="1350" spc="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Capacity </a:t>
            </a:r>
            <a:r>
              <a:rPr sz="1350" spc="-365" dirty="0">
                <a:solidFill>
                  <a:srgbClr val="6F655C"/>
                </a:solidFill>
                <a:latin typeface="Trebuchet MS"/>
                <a:cs typeface="Trebuchet MS"/>
              </a:rPr>
              <a:t>|</a:t>
            </a:r>
            <a:r>
              <a:rPr sz="1350" spc="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Staff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Availability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0928" y="5588647"/>
            <a:ext cx="4779010" cy="5778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50" b="1" dirty="0">
                <a:solidFill>
                  <a:srgbClr val="6F655C"/>
                </a:solidFill>
                <a:latin typeface="Trebuchet MS"/>
                <a:cs typeface="Trebuchet MS"/>
              </a:rPr>
              <a:t>Outcomes:</a:t>
            </a:r>
            <a:r>
              <a:rPr sz="1350" b="1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80" dirty="0">
                <a:solidFill>
                  <a:srgbClr val="6F655C"/>
                </a:solidFill>
                <a:latin typeface="Trebuchet MS"/>
                <a:cs typeface="Trebuchet MS"/>
              </a:rPr>
              <a:t>Less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Waiting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Time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80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Better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Resource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Utilization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50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70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Improved Patient</a:t>
            </a:r>
            <a:r>
              <a:rPr sz="1350" spc="-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Care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Software</a:t>
            </a:r>
            <a:r>
              <a:rPr spc="-60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0580" y="1999906"/>
            <a:ext cx="447675" cy="410845"/>
            <a:chOff x="590580" y="1999906"/>
            <a:chExt cx="447675" cy="410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80" y="2335595"/>
              <a:ext cx="93973" cy="745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736" y="2317007"/>
              <a:ext cx="87457" cy="93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740" y="1999907"/>
              <a:ext cx="93364" cy="84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657" y="1999906"/>
              <a:ext cx="78782" cy="121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0074" y="2009401"/>
              <a:ext cx="428625" cy="391795"/>
            </a:xfrm>
            <a:custGeom>
              <a:avLst/>
              <a:gdLst/>
              <a:ahLst/>
              <a:cxnLst/>
              <a:rect l="l" t="t" r="r" b="b"/>
              <a:pathLst>
                <a:path w="428625" h="391794">
                  <a:moveTo>
                    <a:pt x="428590" y="95749"/>
                  </a:moveTo>
                  <a:lnTo>
                    <a:pt x="105" y="95851"/>
                  </a:lnTo>
                </a:path>
                <a:path w="428625" h="391794">
                  <a:moveTo>
                    <a:pt x="77" y="102159"/>
                  </a:moveTo>
                  <a:lnTo>
                    <a:pt x="0" y="335688"/>
                  </a:lnTo>
                </a:path>
                <a:path w="428625" h="391794">
                  <a:moveTo>
                    <a:pt x="103870" y="21"/>
                  </a:moveTo>
                  <a:lnTo>
                    <a:pt x="103867" y="95803"/>
                  </a:lnTo>
                </a:path>
                <a:path w="428625" h="391794">
                  <a:moveTo>
                    <a:pt x="74984" y="391271"/>
                  </a:moveTo>
                  <a:lnTo>
                    <a:pt x="360156" y="391168"/>
                  </a:lnTo>
                </a:path>
                <a:path w="428625" h="391794">
                  <a:moveTo>
                    <a:pt x="428624" y="317100"/>
                  </a:moveTo>
                  <a:lnTo>
                    <a:pt x="428535" y="65260"/>
                  </a:lnTo>
                </a:path>
                <a:path w="428625" h="391794">
                  <a:moveTo>
                    <a:pt x="354160" y="0"/>
                  </a:moveTo>
                  <a:lnTo>
                    <a:pt x="59870" y="0"/>
                  </a:lnTo>
                </a:path>
              </a:pathLst>
            </a:custGeom>
            <a:ln w="18989">
              <a:solidFill>
                <a:srgbClr val="BC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7374" y="2620962"/>
            <a:ext cx="323596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Frontend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HTML,</a:t>
            </a:r>
            <a:r>
              <a:rPr sz="1350" spc="-8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105" dirty="0">
                <a:solidFill>
                  <a:srgbClr val="6F655C"/>
                </a:solidFill>
                <a:latin typeface="Trebuchet MS"/>
                <a:cs typeface="Trebuchet MS"/>
              </a:rPr>
              <a:t>CSS,</a:t>
            </a:r>
            <a:r>
              <a:rPr sz="1350" spc="-8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JavaScript,</a:t>
            </a:r>
            <a:r>
              <a:rPr sz="1350" spc="-8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React.js</a:t>
            </a:r>
            <a:r>
              <a:rPr sz="1350" spc="-8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(if</a:t>
            </a:r>
            <a:r>
              <a:rPr sz="1350" spc="-7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used)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47" y="3712138"/>
            <a:ext cx="429259" cy="377190"/>
          </a:xfrm>
          <a:custGeom>
            <a:avLst/>
            <a:gdLst/>
            <a:ahLst/>
            <a:cxnLst/>
            <a:rect l="l" t="t" r="r" b="b"/>
            <a:pathLst>
              <a:path w="429259" h="377189">
                <a:moveTo>
                  <a:pt x="410531" y="152293"/>
                </a:moveTo>
                <a:lnTo>
                  <a:pt x="428143" y="193442"/>
                </a:lnTo>
                <a:lnTo>
                  <a:pt x="428523" y="220478"/>
                </a:lnTo>
                <a:lnTo>
                  <a:pt x="428635" y="267347"/>
                </a:lnTo>
              </a:path>
              <a:path w="429259" h="377189">
                <a:moveTo>
                  <a:pt x="410034" y="151727"/>
                </a:moveTo>
                <a:lnTo>
                  <a:pt x="428652" y="113172"/>
                </a:lnTo>
                <a:lnTo>
                  <a:pt x="428615" y="34628"/>
                </a:lnTo>
              </a:path>
              <a:path w="429259" h="377189">
                <a:moveTo>
                  <a:pt x="428635" y="267347"/>
                </a:moveTo>
                <a:lnTo>
                  <a:pt x="403293" y="302410"/>
                </a:lnTo>
                <a:lnTo>
                  <a:pt x="392436" y="303100"/>
                </a:lnTo>
                <a:lnTo>
                  <a:pt x="383709" y="303154"/>
                </a:lnTo>
              </a:path>
              <a:path w="429259" h="377189">
                <a:moveTo>
                  <a:pt x="153" y="187203"/>
                </a:moveTo>
                <a:lnTo>
                  <a:pt x="9932" y="161617"/>
                </a:lnTo>
                <a:lnTo>
                  <a:pt x="20379" y="151617"/>
                </a:lnTo>
              </a:path>
              <a:path w="429259" h="377189">
                <a:moveTo>
                  <a:pt x="428615" y="34628"/>
                </a:moveTo>
                <a:lnTo>
                  <a:pt x="403991" y="739"/>
                </a:lnTo>
                <a:lnTo>
                  <a:pt x="393155" y="108"/>
                </a:lnTo>
                <a:lnTo>
                  <a:pt x="384436" y="80"/>
                </a:lnTo>
              </a:path>
              <a:path w="429259" h="377189">
                <a:moveTo>
                  <a:pt x="407" y="122776"/>
                </a:moveTo>
                <a:lnTo>
                  <a:pt x="11092" y="144282"/>
                </a:lnTo>
                <a:lnTo>
                  <a:pt x="20379" y="151617"/>
                </a:lnTo>
              </a:path>
              <a:path w="429259" h="377189">
                <a:moveTo>
                  <a:pt x="409449" y="152251"/>
                </a:moveTo>
                <a:lnTo>
                  <a:pt x="20379" y="151617"/>
                </a:lnTo>
              </a:path>
              <a:path w="429259" h="377189">
                <a:moveTo>
                  <a:pt x="214090" y="303176"/>
                </a:moveTo>
                <a:lnTo>
                  <a:pt x="214020" y="376615"/>
                </a:lnTo>
              </a:path>
              <a:path w="429259" h="377189">
                <a:moveTo>
                  <a:pt x="93561" y="376603"/>
                </a:moveTo>
                <a:lnTo>
                  <a:pt x="334420" y="376425"/>
                </a:lnTo>
              </a:path>
              <a:path w="429259" h="377189">
                <a:moveTo>
                  <a:pt x="366286" y="77902"/>
                </a:moveTo>
                <a:lnTo>
                  <a:pt x="366286" y="80371"/>
                </a:lnTo>
                <a:lnTo>
                  <a:pt x="365814" y="82746"/>
                </a:lnTo>
                <a:lnTo>
                  <a:pt x="364869" y="85027"/>
                </a:lnTo>
                <a:lnTo>
                  <a:pt x="363924" y="87308"/>
                </a:lnTo>
                <a:lnTo>
                  <a:pt x="354792" y="95104"/>
                </a:lnTo>
                <a:lnTo>
                  <a:pt x="352511" y="96049"/>
                </a:lnTo>
                <a:lnTo>
                  <a:pt x="350136" y="96521"/>
                </a:lnTo>
                <a:lnTo>
                  <a:pt x="347667" y="96521"/>
                </a:lnTo>
                <a:lnTo>
                  <a:pt x="345198" y="96521"/>
                </a:lnTo>
                <a:lnTo>
                  <a:pt x="342823" y="96049"/>
                </a:lnTo>
                <a:lnTo>
                  <a:pt x="340541" y="95104"/>
                </a:lnTo>
                <a:lnTo>
                  <a:pt x="338260" y="94159"/>
                </a:lnTo>
                <a:lnTo>
                  <a:pt x="336247" y="92813"/>
                </a:lnTo>
                <a:lnTo>
                  <a:pt x="334501" y="91068"/>
                </a:lnTo>
                <a:lnTo>
                  <a:pt x="332755" y="89322"/>
                </a:lnTo>
                <a:lnTo>
                  <a:pt x="331410" y="87308"/>
                </a:lnTo>
                <a:lnTo>
                  <a:pt x="330465" y="85027"/>
                </a:lnTo>
                <a:lnTo>
                  <a:pt x="329520" y="82746"/>
                </a:lnTo>
                <a:lnTo>
                  <a:pt x="329048" y="80371"/>
                </a:lnTo>
                <a:lnTo>
                  <a:pt x="329048" y="77902"/>
                </a:lnTo>
                <a:lnTo>
                  <a:pt x="329048" y="75433"/>
                </a:lnTo>
                <a:lnTo>
                  <a:pt x="334501" y="64736"/>
                </a:lnTo>
                <a:lnTo>
                  <a:pt x="336247" y="62990"/>
                </a:lnTo>
                <a:lnTo>
                  <a:pt x="338260" y="61645"/>
                </a:lnTo>
                <a:lnTo>
                  <a:pt x="340541" y="60700"/>
                </a:lnTo>
                <a:lnTo>
                  <a:pt x="342823" y="59755"/>
                </a:lnTo>
                <a:lnTo>
                  <a:pt x="345198" y="59283"/>
                </a:lnTo>
                <a:lnTo>
                  <a:pt x="347667" y="59283"/>
                </a:lnTo>
                <a:lnTo>
                  <a:pt x="350136" y="59283"/>
                </a:lnTo>
                <a:lnTo>
                  <a:pt x="352511" y="59755"/>
                </a:lnTo>
                <a:lnTo>
                  <a:pt x="354792" y="60700"/>
                </a:lnTo>
                <a:lnTo>
                  <a:pt x="357073" y="61645"/>
                </a:lnTo>
                <a:lnTo>
                  <a:pt x="364869" y="70776"/>
                </a:lnTo>
                <a:lnTo>
                  <a:pt x="365814" y="73058"/>
                </a:lnTo>
                <a:lnTo>
                  <a:pt x="366286" y="75433"/>
                </a:lnTo>
                <a:lnTo>
                  <a:pt x="366286" y="77902"/>
                </a:lnTo>
                <a:close/>
              </a:path>
              <a:path w="429259" h="377189">
                <a:moveTo>
                  <a:pt x="330861" y="70117"/>
                </a:moveTo>
                <a:lnTo>
                  <a:pt x="331819" y="67653"/>
                </a:lnTo>
              </a:path>
              <a:path w="429259" h="377189">
                <a:moveTo>
                  <a:pt x="366593" y="228917"/>
                </a:moveTo>
                <a:lnTo>
                  <a:pt x="355228" y="245926"/>
                </a:lnTo>
                <a:lnTo>
                  <a:pt x="352972" y="246860"/>
                </a:lnTo>
                <a:lnTo>
                  <a:pt x="350624" y="247327"/>
                </a:lnTo>
                <a:lnTo>
                  <a:pt x="348182" y="247327"/>
                </a:lnTo>
                <a:lnTo>
                  <a:pt x="345741" y="247327"/>
                </a:lnTo>
                <a:lnTo>
                  <a:pt x="343393" y="246860"/>
                </a:lnTo>
                <a:lnTo>
                  <a:pt x="341137" y="245926"/>
                </a:lnTo>
                <a:lnTo>
                  <a:pt x="338882" y="244991"/>
                </a:lnTo>
                <a:lnTo>
                  <a:pt x="336891" y="243661"/>
                </a:lnTo>
                <a:lnTo>
                  <a:pt x="335164" y="241935"/>
                </a:lnTo>
                <a:lnTo>
                  <a:pt x="333438" y="240208"/>
                </a:lnTo>
                <a:lnTo>
                  <a:pt x="332108" y="238218"/>
                </a:lnTo>
                <a:lnTo>
                  <a:pt x="331173" y="235962"/>
                </a:lnTo>
                <a:lnTo>
                  <a:pt x="330239" y="233706"/>
                </a:lnTo>
                <a:lnTo>
                  <a:pt x="329772" y="231358"/>
                </a:lnTo>
                <a:lnTo>
                  <a:pt x="329772" y="228917"/>
                </a:lnTo>
                <a:lnTo>
                  <a:pt x="329772" y="226475"/>
                </a:lnTo>
                <a:lnTo>
                  <a:pt x="330239" y="224127"/>
                </a:lnTo>
                <a:lnTo>
                  <a:pt x="331173" y="221871"/>
                </a:lnTo>
                <a:lnTo>
                  <a:pt x="332108" y="219616"/>
                </a:lnTo>
                <a:lnTo>
                  <a:pt x="333438" y="217625"/>
                </a:lnTo>
                <a:lnTo>
                  <a:pt x="335164" y="215899"/>
                </a:lnTo>
                <a:lnTo>
                  <a:pt x="336891" y="214172"/>
                </a:lnTo>
                <a:lnTo>
                  <a:pt x="338881" y="212842"/>
                </a:lnTo>
                <a:lnTo>
                  <a:pt x="341137" y="211908"/>
                </a:lnTo>
                <a:lnTo>
                  <a:pt x="343393" y="210973"/>
                </a:lnTo>
                <a:lnTo>
                  <a:pt x="345741" y="210506"/>
                </a:lnTo>
                <a:lnTo>
                  <a:pt x="348182" y="210506"/>
                </a:lnTo>
                <a:lnTo>
                  <a:pt x="350624" y="210506"/>
                </a:lnTo>
                <a:lnTo>
                  <a:pt x="365191" y="221871"/>
                </a:lnTo>
                <a:lnTo>
                  <a:pt x="366126" y="224127"/>
                </a:lnTo>
                <a:lnTo>
                  <a:pt x="366593" y="226475"/>
                </a:lnTo>
                <a:lnTo>
                  <a:pt x="366593" y="228917"/>
                </a:lnTo>
                <a:close/>
              </a:path>
              <a:path w="429259" h="377189">
                <a:moveTo>
                  <a:pt x="330775" y="235604"/>
                </a:moveTo>
                <a:lnTo>
                  <a:pt x="331563" y="238164"/>
                </a:lnTo>
              </a:path>
              <a:path w="429259" h="377189">
                <a:moveTo>
                  <a:pt x="258" y="266773"/>
                </a:moveTo>
                <a:lnTo>
                  <a:pt x="153" y="187203"/>
                </a:lnTo>
              </a:path>
              <a:path w="429259" h="377189">
                <a:moveTo>
                  <a:pt x="383709" y="303154"/>
                </a:moveTo>
                <a:lnTo>
                  <a:pt x="31171" y="303359"/>
                </a:lnTo>
              </a:path>
              <a:path w="429259" h="377189">
                <a:moveTo>
                  <a:pt x="31175" y="303477"/>
                </a:moveTo>
                <a:lnTo>
                  <a:pt x="11960" y="297333"/>
                </a:lnTo>
                <a:lnTo>
                  <a:pt x="10132" y="295944"/>
                </a:lnTo>
                <a:lnTo>
                  <a:pt x="8485" y="294368"/>
                </a:lnTo>
                <a:lnTo>
                  <a:pt x="7017" y="292604"/>
                </a:lnTo>
                <a:lnTo>
                  <a:pt x="5548" y="290840"/>
                </a:lnTo>
                <a:lnTo>
                  <a:pt x="4298" y="288933"/>
                </a:lnTo>
                <a:lnTo>
                  <a:pt x="3264" y="286883"/>
                </a:lnTo>
                <a:lnTo>
                  <a:pt x="2231" y="284834"/>
                </a:lnTo>
                <a:lnTo>
                  <a:pt x="0" y="271384"/>
                </a:lnTo>
                <a:lnTo>
                  <a:pt x="228" y="269115"/>
                </a:lnTo>
                <a:lnTo>
                  <a:pt x="714" y="266872"/>
                </a:lnTo>
              </a:path>
              <a:path w="429259" h="377189">
                <a:moveTo>
                  <a:pt x="367" y="36660"/>
                </a:moveTo>
                <a:lnTo>
                  <a:pt x="407" y="122776"/>
                </a:lnTo>
              </a:path>
              <a:path w="429259" h="377189">
                <a:moveTo>
                  <a:pt x="384436" y="80"/>
                </a:moveTo>
                <a:lnTo>
                  <a:pt x="33170" y="87"/>
                </a:lnTo>
              </a:path>
              <a:path w="429259" h="377189">
                <a:moveTo>
                  <a:pt x="33134" y="351"/>
                </a:moveTo>
                <a:lnTo>
                  <a:pt x="30765" y="29"/>
                </a:lnTo>
                <a:lnTo>
                  <a:pt x="28393" y="0"/>
                </a:lnTo>
                <a:lnTo>
                  <a:pt x="26017" y="261"/>
                </a:lnTo>
                <a:lnTo>
                  <a:pt x="23640" y="523"/>
                </a:lnTo>
                <a:lnTo>
                  <a:pt x="21331" y="1068"/>
                </a:lnTo>
                <a:lnTo>
                  <a:pt x="19089" y="1898"/>
                </a:lnTo>
                <a:lnTo>
                  <a:pt x="16847" y="2727"/>
                </a:lnTo>
                <a:lnTo>
                  <a:pt x="14739" y="3816"/>
                </a:lnTo>
                <a:lnTo>
                  <a:pt x="12765" y="5163"/>
                </a:lnTo>
                <a:lnTo>
                  <a:pt x="10791" y="6511"/>
                </a:lnTo>
                <a:lnTo>
                  <a:pt x="9009" y="8078"/>
                </a:lnTo>
                <a:lnTo>
                  <a:pt x="7420" y="9864"/>
                </a:lnTo>
                <a:lnTo>
                  <a:pt x="5831" y="11649"/>
                </a:lnTo>
                <a:lnTo>
                  <a:pt x="4481" y="13601"/>
                </a:lnTo>
                <a:lnTo>
                  <a:pt x="3372" y="15719"/>
                </a:lnTo>
                <a:lnTo>
                  <a:pt x="2263" y="17836"/>
                </a:lnTo>
                <a:lnTo>
                  <a:pt x="1426" y="20056"/>
                </a:lnTo>
                <a:lnTo>
                  <a:pt x="863" y="22380"/>
                </a:lnTo>
                <a:lnTo>
                  <a:pt x="300" y="24703"/>
                </a:lnTo>
                <a:lnTo>
                  <a:pt x="26" y="27059"/>
                </a:lnTo>
                <a:lnTo>
                  <a:pt x="42" y="29450"/>
                </a:lnTo>
                <a:lnTo>
                  <a:pt x="58" y="31840"/>
                </a:lnTo>
                <a:lnTo>
                  <a:pt x="363" y="34193"/>
                </a:lnTo>
                <a:lnTo>
                  <a:pt x="958" y="36509"/>
                </a:lnTo>
              </a:path>
            </a:pathLst>
          </a:custGeom>
          <a:ln w="18980">
            <a:solidFill>
              <a:srgbClr val="BC75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7374" y="4325937"/>
            <a:ext cx="219519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Backend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Node.js,</a:t>
            </a:r>
            <a:r>
              <a:rPr sz="1350" spc="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Express.js</a:t>
            </a:r>
            <a:r>
              <a:rPr sz="1350" spc="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6F655C"/>
                </a:solidFill>
                <a:latin typeface="Trebuchet MS"/>
                <a:cs typeface="Trebuchet MS"/>
              </a:rPr>
              <a:t>(if</a:t>
            </a:r>
            <a:r>
              <a:rPr sz="1350" spc="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used)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1489" y="5381663"/>
            <a:ext cx="386080" cy="447675"/>
            <a:chOff x="621489" y="5381663"/>
            <a:chExt cx="386080" cy="447675"/>
          </a:xfrm>
        </p:grpSpPr>
        <p:sp>
          <p:nvSpPr>
            <p:cNvPr id="14" name="object 14"/>
            <p:cNvSpPr/>
            <p:nvPr/>
          </p:nvSpPr>
          <p:spPr>
            <a:xfrm>
              <a:off x="869197" y="5670415"/>
              <a:ext cx="127000" cy="44450"/>
            </a:xfrm>
            <a:custGeom>
              <a:avLst/>
              <a:gdLst/>
              <a:ahLst/>
              <a:cxnLst/>
              <a:rect l="l" t="t" r="r" b="b"/>
              <a:pathLst>
                <a:path w="127000" h="44450">
                  <a:moveTo>
                    <a:pt x="127002" y="0"/>
                  </a:moveTo>
                  <a:lnTo>
                    <a:pt x="89762" y="23021"/>
                  </a:lnTo>
                  <a:lnTo>
                    <a:pt x="40184" y="37988"/>
                  </a:lnTo>
                  <a:lnTo>
                    <a:pt x="9593" y="42694"/>
                  </a:lnTo>
                  <a:lnTo>
                    <a:pt x="0" y="43901"/>
                  </a:lnTo>
                </a:path>
              </a:pathLst>
            </a:custGeom>
            <a:ln w="18993">
              <a:solidFill>
                <a:srgbClr val="BC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340" y="5555891"/>
              <a:ext cx="182858" cy="6685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3581" y="5598338"/>
              <a:ext cx="304800" cy="219710"/>
            </a:xfrm>
            <a:custGeom>
              <a:avLst/>
              <a:gdLst/>
              <a:ahLst/>
              <a:cxnLst/>
              <a:rect l="l" t="t" r="r" b="b"/>
              <a:pathLst>
                <a:path w="304800" h="219710">
                  <a:moveTo>
                    <a:pt x="99148" y="14830"/>
                  </a:moveTo>
                  <a:lnTo>
                    <a:pt x="77825" y="13093"/>
                  </a:lnTo>
                  <a:lnTo>
                    <a:pt x="57975" y="10986"/>
                  </a:lnTo>
                  <a:lnTo>
                    <a:pt x="39263" y="8467"/>
                  </a:lnTo>
                  <a:lnTo>
                    <a:pt x="21356" y="5495"/>
                  </a:lnTo>
                  <a:lnTo>
                    <a:pt x="0" y="0"/>
                  </a:lnTo>
                </a:path>
                <a:path w="304800" h="219710">
                  <a:moveTo>
                    <a:pt x="304207" y="149099"/>
                  </a:moveTo>
                  <a:lnTo>
                    <a:pt x="287576" y="184235"/>
                  </a:lnTo>
                  <a:lnTo>
                    <a:pt x="252412" y="201993"/>
                  </a:lnTo>
                  <a:lnTo>
                    <a:pt x="212878" y="212829"/>
                  </a:lnTo>
                  <a:lnTo>
                    <a:pt x="178725" y="218363"/>
                  </a:lnTo>
                  <a:lnTo>
                    <a:pt x="164558" y="219703"/>
                  </a:lnTo>
                </a:path>
              </a:pathLst>
            </a:custGeom>
            <a:ln w="18993">
              <a:solidFill>
                <a:srgbClr val="BC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628" y="5711202"/>
              <a:ext cx="132796" cy="1134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0985" y="5391159"/>
              <a:ext cx="367030" cy="428625"/>
            </a:xfrm>
            <a:custGeom>
              <a:avLst/>
              <a:gdLst/>
              <a:ahLst/>
              <a:cxnLst/>
              <a:rect l="l" t="t" r="r" b="b"/>
              <a:pathLst>
                <a:path w="367030" h="428625">
                  <a:moveTo>
                    <a:pt x="161" y="90638"/>
                  </a:moveTo>
                  <a:lnTo>
                    <a:pt x="262" y="78828"/>
                  </a:lnTo>
                  <a:lnTo>
                    <a:pt x="282" y="68228"/>
                  </a:lnTo>
                  <a:lnTo>
                    <a:pt x="395" y="59480"/>
                  </a:lnTo>
                  <a:lnTo>
                    <a:pt x="26647" y="26442"/>
                  </a:lnTo>
                  <a:lnTo>
                    <a:pt x="64694" y="12475"/>
                  </a:lnTo>
                  <a:lnTo>
                    <a:pt x="106689" y="4544"/>
                  </a:lnTo>
                  <a:lnTo>
                    <a:pt x="151454" y="584"/>
                  </a:lnTo>
                  <a:lnTo>
                    <a:pt x="188406" y="0"/>
                  </a:lnTo>
                  <a:lnTo>
                    <a:pt x="204960" y="271"/>
                  </a:lnTo>
                  <a:lnTo>
                    <a:pt x="250970" y="3492"/>
                  </a:lnTo>
                  <a:lnTo>
                    <a:pt x="295435" y="11044"/>
                  </a:lnTo>
                  <a:lnTo>
                    <a:pt x="332062" y="22857"/>
                  </a:lnTo>
                  <a:lnTo>
                    <a:pt x="364508" y="49441"/>
                  </a:lnTo>
                  <a:lnTo>
                    <a:pt x="366692" y="82742"/>
                  </a:lnTo>
                  <a:lnTo>
                    <a:pt x="366757" y="100530"/>
                  </a:lnTo>
                </a:path>
                <a:path w="367030" h="428625">
                  <a:moveTo>
                    <a:pt x="366761" y="278151"/>
                  </a:moveTo>
                  <a:lnTo>
                    <a:pt x="366803" y="356277"/>
                  </a:lnTo>
                </a:path>
                <a:path w="367030" h="428625">
                  <a:moveTo>
                    <a:pt x="366747" y="173413"/>
                  </a:moveTo>
                  <a:lnTo>
                    <a:pt x="365214" y="279255"/>
                  </a:lnTo>
                </a:path>
                <a:path w="367030" h="428625">
                  <a:moveTo>
                    <a:pt x="366739" y="72978"/>
                  </a:moveTo>
                  <a:lnTo>
                    <a:pt x="348962" y="85756"/>
                  </a:lnTo>
                  <a:lnTo>
                    <a:pt x="330002" y="95926"/>
                  </a:lnTo>
                  <a:lnTo>
                    <a:pt x="309859" y="103489"/>
                  </a:lnTo>
                  <a:lnTo>
                    <a:pt x="288535" y="108445"/>
                  </a:lnTo>
                </a:path>
                <a:path w="367030" h="428625">
                  <a:moveTo>
                    <a:pt x="238212" y="323157"/>
                  </a:moveTo>
                  <a:lnTo>
                    <a:pt x="199268" y="325395"/>
                  </a:lnTo>
                  <a:lnTo>
                    <a:pt x="160322" y="325222"/>
                  </a:lnTo>
                  <a:lnTo>
                    <a:pt x="121374" y="322197"/>
                  </a:lnTo>
                  <a:lnTo>
                    <a:pt x="82426" y="315879"/>
                  </a:lnTo>
                </a:path>
                <a:path w="367030" h="428625">
                  <a:moveTo>
                    <a:pt x="82499" y="315395"/>
                  </a:moveTo>
                  <a:lnTo>
                    <a:pt x="59784" y="310375"/>
                  </a:lnTo>
                  <a:lnTo>
                    <a:pt x="38462" y="302342"/>
                  </a:lnTo>
                  <a:lnTo>
                    <a:pt x="18534" y="291296"/>
                  </a:lnTo>
                  <a:lnTo>
                    <a:pt x="0" y="277237"/>
                  </a:lnTo>
                </a:path>
                <a:path w="367030" h="428625">
                  <a:moveTo>
                    <a:pt x="227154" y="426881"/>
                  </a:moveTo>
                  <a:lnTo>
                    <a:pt x="198854" y="428370"/>
                  </a:lnTo>
                  <a:lnTo>
                    <a:pt x="170568" y="428487"/>
                  </a:lnTo>
                  <a:lnTo>
                    <a:pt x="142273" y="427087"/>
                  </a:lnTo>
                  <a:lnTo>
                    <a:pt x="113942" y="424021"/>
                  </a:lnTo>
                </a:path>
                <a:path w="367030" h="428625">
                  <a:moveTo>
                    <a:pt x="139" y="329539"/>
                  </a:moveTo>
                  <a:lnTo>
                    <a:pt x="161" y="90638"/>
                  </a:lnTo>
                </a:path>
                <a:path w="367030" h="428625">
                  <a:moveTo>
                    <a:pt x="201851" y="222089"/>
                  </a:moveTo>
                  <a:lnTo>
                    <a:pt x="161744" y="222008"/>
                  </a:lnTo>
                </a:path>
                <a:path w="367030" h="428625">
                  <a:moveTo>
                    <a:pt x="366757" y="100530"/>
                  </a:moveTo>
                  <a:lnTo>
                    <a:pt x="365716" y="174227"/>
                  </a:lnTo>
                </a:path>
                <a:path w="367030" h="428625">
                  <a:moveTo>
                    <a:pt x="62647" y="206972"/>
                  </a:moveTo>
                  <a:lnTo>
                    <a:pt x="45483" y="201547"/>
                  </a:lnTo>
                  <a:lnTo>
                    <a:pt x="29373" y="194160"/>
                  </a:lnTo>
                  <a:lnTo>
                    <a:pt x="14315" y="184811"/>
                  </a:lnTo>
                  <a:lnTo>
                    <a:pt x="311" y="173501"/>
                  </a:lnTo>
                </a:path>
                <a:path w="367030" h="428625">
                  <a:moveTo>
                    <a:pt x="288588" y="108766"/>
                  </a:moveTo>
                  <a:lnTo>
                    <a:pt x="237242" y="116910"/>
                  </a:lnTo>
                  <a:lnTo>
                    <a:pt x="185894" y="119959"/>
                  </a:lnTo>
                  <a:lnTo>
                    <a:pt x="134547" y="117760"/>
                  </a:lnTo>
                  <a:lnTo>
                    <a:pt x="83206" y="110157"/>
                  </a:lnTo>
                </a:path>
                <a:path w="367030" h="428625">
                  <a:moveTo>
                    <a:pt x="83262" y="109801"/>
                  </a:moveTo>
                  <a:lnTo>
                    <a:pt x="60866" y="104876"/>
                  </a:lnTo>
                  <a:lnTo>
                    <a:pt x="39561" y="97374"/>
                  </a:lnTo>
                  <a:lnTo>
                    <a:pt x="19346" y="87297"/>
                  </a:lnTo>
                  <a:lnTo>
                    <a:pt x="222" y="74644"/>
                  </a:lnTo>
                </a:path>
              </a:pathLst>
            </a:custGeom>
            <a:ln w="18993">
              <a:solidFill>
                <a:srgbClr val="BC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7374" y="6021387"/>
            <a:ext cx="295402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Database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140" dirty="0">
                <a:solidFill>
                  <a:srgbClr val="6F655C"/>
                </a:solidFill>
                <a:latin typeface="Trebuchet MS"/>
                <a:cs typeface="Trebuchet MS"/>
              </a:rPr>
              <a:t>MySQL</a:t>
            </a:r>
            <a:r>
              <a:rPr sz="1350" spc="-6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0" dirty="0">
                <a:solidFill>
                  <a:srgbClr val="6F655C"/>
                </a:solidFill>
                <a:latin typeface="Trebuchet MS"/>
                <a:cs typeface="Trebuchet MS"/>
              </a:rPr>
              <a:t>/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100" dirty="0">
                <a:solidFill>
                  <a:srgbClr val="6F655C"/>
                </a:solidFill>
                <a:latin typeface="Trebuchet MS"/>
                <a:cs typeface="Trebuchet MS"/>
              </a:rPr>
              <a:t>MongoDB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09" dirty="0">
                <a:solidFill>
                  <a:srgbClr val="6F655C"/>
                </a:solidFill>
                <a:latin typeface="Trebuchet MS"/>
                <a:cs typeface="Trebuchet MS"/>
              </a:rPr>
              <a:t>—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6F655C"/>
                </a:solidFill>
                <a:latin typeface="Trebuchet MS"/>
                <a:cs typeface="Trebuchet MS"/>
              </a:rPr>
              <a:t>To</a:t>
            </a:r>
            <a:r>
              <a:rPr sz="1350" spc="-7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be</a:t>
            </a:r>
            <a:r>
              <a:rPr sz="1350" spc="-7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finalized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8096" y="7077106"/>
            <a:ext cx="192400" cy="44771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87374" y="7726362"/>
            <a:ext cx="3694429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6F655C"/>
                </a:solidFill>
                <a:latin typeface="Cambria"/>
                <a:cs typeface="Cambria"/>
              </a:rPr>
              <a:t>Development</a:t>
            </a:r>
            <a:r>
              <a:rPr sz="1650" b="1" spc="-25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Tools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Visual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Studio</a:t>
            </a:r>
            <a:r>
              <a:rPr sz="1350" spc="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Code,</a:t>
            </a:r>
            <a:r>
              <a:rPr sz="1350" spc="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Git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0" dirty="0">
                <a:solidFill>
                  <a:srgbClr val="6F655C"/>
                </a:solidFill>
                <a:latin typeface="Trebuchet MS"/>
                <a:cs typeface="Trebuchet MS"/>
              </a:rPr>
              <a:t>/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GitHub,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Web</a:t>
            </a:r>
            <a:r>
              <a:rPr sz="1350" spc="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Browser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38773" y="1990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38773" y="2324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38773" y="26574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38773" y="3000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38773" y="3333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38773" y="3667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38773" y="4000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38773" y="4333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6F6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88421" y="1430337"/>
            <a:ext cx="2911475" cy="30270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4A6981"/>
                </a:solidFill>
                <a:latin typeface="Cambria"/>
                <a:cs typeface="Cambria"/>
              </a:rPr>
              <a:t>Functional</a:t>
            </a:r>
            <a:r>
              <a:rPr sz="1650" b="1" spc="180" dirty="0">
                <a:solidFill>
                  <a:srgbClr val="4A6981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4A6981"/>
                </a:solidFill>
                <a:latin typeface="Cambria"/>
                <a:cs typeface="Cambria"/>
              </a:rPr>
              <a:t>Requirements</a:t>
            </a:r>
            <a:endParaRPr sz="1650">
              <a:latin typeface="Cambria"/>
              <a:cs typeface="Cambria"/>
            </a:endParaRPr>
          </a:p>
          <a:p>
            <a:pPr marL="286385" marR="960119">
              <a:lnSpc>
                <a:spcPct val="163600"/>
              </a:lnSpc>
              <a:spcBef>
                <a:spcPts val="515"/>
              </a:spcBef>
            </a:pP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User</a:t>
            </a:r>
            <a:r>
              <a:rPr sz="1350" spc="-8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Authentication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Patient</a:t>
            </a:r>
            <a:r>
              <a:rPr sz="1350" spc="-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Management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Bed</a:t>
            </a:r>
            <a:r>
              <a:rPr sz="1350" spc="-8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Management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 OR</a:t>
            </a:r>
            <a:r>
              <a:rPr sz="1350" spc="-8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Scheduling</a:t>
            </a:r>
            <a:endParaRPr sz="1350">
              <a:latin typeface="Trebuchet MS"/>
              <a:cs typeface="Trebuchet MS"/>
            </a:endParaRPr>
          </a:p>
          <a:p>
            <a:pPr marL="286385" marR="5080">
              <a:lnSpc>
                <a:spcPct val="162000"/>
              </a:lnSpc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Staff</a:t>
            </a:r>
            <a:r>
              <a:rPr sz="1350" spc="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Schedule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Management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Real-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Time</a:t>
            </a:r>
            <a:r>
              <a:rPr sz="1350" spc="-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Availability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Monitoring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Admin</a:t>
            </a:r>
            <a:r>
              <a:rPr sz="1350" spc="1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Dashboard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Database</a:t>
            </a:r>
            <a:r>
              <a:rPr sz="1350" spc="1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0" dirty="0">
                <a:solidFill>
                  <a:srgbClr val="6F655C"/>
                </a:solidFill>
                <a:latin typeface="Trebuchet MS"/>
                <a:cs typeface="Trebuchet MS"/>
              </a:rPr>
              <a:t>Management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00674" y="4724399"/>
            <a:ext cx="5438775" cy="19050"/>
          </a:xfrm>
          <a:custGeom>
            <a:avLst/>
            <a:gdLst/>
            <a:ahLst/>
            <a:cxnLst/>
            <a:rect l="l" t="t" r="r" b="b"/>
            <a:pathLst>
              <a:path w="5438775" h="19050">
                <a:moveTo>
                  <a:pt x="5431879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399"/>
                </a:lnTo>
                <a:lnTo>
                  <a:pt x="0" y="12155"/>
                </a:lnTo>
                <a:lnTo>
                  <a:pt x="0" y="9524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5431879" y="0"/>
                </a:lnTo>
                <a:lnTo>
                  <a:pt x="5434124" y="929"/>
                </a:lnTo>
                <a:lnTo>
                  <a:pt x="5437843" y="4649"/>
                </a:lnTo>
                <a:lnTo>
                  <a:pt x="5438773" y="6894"/>
                </a:lnTo>
                <a:lnTo>
                  <a:pt x="5438773" y="12155"/>
                </a:lnTo>
                <a:lnTo>
                  <a:pt x="5437843" y="14399"/>
                </a:lnTo>
                <a:lnTo>
                  <a:pt x="5434124" y="18119"/>
                </a:lnTo>
                <a:lnTo>
                  <a:pt x="5431879" y="19049"/>
                </a:lnTo>
                <a:close/>
              </a:path>
            </a:pathLst>
          </a:custGeom>
          <a:solidFill>
            <a:srgbClr val="6F655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88421" y="4973637"/>
            <a:ext cx="4083685" cy="6883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4A6981"/>
                </a:solidFill>
                <a:latin typeface="Cambria"/>
                <a:cs typeface="Cambria"/>
              </a:rPr>
              <a:t>Architecture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350" spc="55" dirty="0">
                <a:solidFill>
                  <a:srgbClr val="6F655C"/>
                </a:solidFill>
                <a:latin typeface="Trebuchet MS"/>
                <a:cs typeface="Trebuchet MS"/>
              </a:rPr>
              <a:t>User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Interface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spc="1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80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Backend/Application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500" spc="10" dirty="0">
                <a:solidFill>
                  <a:srgbClr val="6F655C"/>
                </a:solidFill>
                <a:latin typeface="Lucida Sans Unicode"/>
                <a:cs typeface="Lucida Sans Unicode"/>
              </a:rPr>
              <a:t>→</a:t>
            </a:r>
            <a:r>
              <a:rPr sz="1500" spc="-175" dirty="0">
                <a:solidFill>
                  <a:srgbClr val="6F655C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Database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0674" y="5886450"/>
            <a:ext cx="54387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544050"/>
          </a:xfrm>
          <a:custGeom>
            <a:avLst/>
            <a:gdLst/>
            <a:ahLst/>
            <a:cxnLst/>
            <a:rect l="l" t="t" r="r" b="b"/>
            <a:pathLst>
              <a:path w="11430000" h="9544050">
                <a:moveTo>
                  <a:pt x="11429999" y="9544049"/>
                </a:moveTo>
                <a:lnTo>
                  <a:pt x="0" y="95440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9544049"/>
                </a:lnTo>
                <a:close/>
              </a:path>
            </a:pathLst>
          </a:custGeom>
          <a:solidFill>
            <a:srgbClr val="FFFA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Hardware</a:t>
            </a:r>
            <a:r>
              <a:rPr spc="-130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457324"/>
            <a:ext cx="5455285" cy="1111885"/>
            <a:chOff x="600074" y="1457324"/>
            <a:chExt cx="5455285" cy="1111885"/>
          </a:xfrm>
        </p:grpSpPr>
        <p:sp>
          <p:nvSpPr>
            <p:cNvPr id="5" name="object 5"/>
            <p:cNvSpPr/>
            <p:nvPr/>
          </p:nvSpPr>
          <p:spPr>
            <a:xfrm>
              <a:off x="617206" y="1474456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39">
                  <a:moveTo>
                    <a:pt x="5426887" y="1068718"/>
                  </a:moveTo>
                  <a:lnTo>
                    <a:pt x="5368330" y="1068718"/>
                  </a:lnTo>
                  <a:lnTo>
                    <a:pt x="5374769" y="1067437"/>
                  </a:lnTo>
                  <a:lnTo>
                    <a:pt x="5387139" y="1062313"/>
                  </a:lnTo>
                  <a:lnTo>
                    <a:pt x="5410837" y="1031370"/>
                  </a:lnTo>
                  <a:lnTo>
                    <a:pt x="5412118" y="1024930"/>
                  </a:lnTo>
                  <a:lnTo>
                    <a:pt x="5412118" y="36181"/>
                  </a:lnTo>
                  <a:lnTo>
                    <a:pt x="5392598" y="2445"/>
                  </a:lnTo>
                  <a:lnTo>
                    <a:pt x="5388937" y="0"/>
                  </a:lnTo>
                  <a:lnTo>
                    <a:pt x="5393279" y="863"/>
                  </a:lnTo>
                  <a:lnTo>
                    <a:pt x="5425413" y="22334"/>
                  </a:lnTo>
                  <a:lnTo>
                    <a:pt x="5437716" y="55009"/>
                  </a:lnTo>
                  <a:lnTo>
                    <a:pt x="5437716" y="1038249"/>
                  </a:lnTo>
                  <a:lnTo>
                    <a:pt x="5429791" y="1064371"/>
                  </a:lnTo>
                  <a:lnTo>
                    <a:pt x="5426887" y="1068718"/>
                  </a:lnTo>
                  <a:close/>
                </a:path>
                <a:path w="5438140" h="1094739">
                  <a:moveTo>
                    <a:pt x="5381649" y="1094316"/>
                  </a:moveTo>
                  <a:lnTo>
                    <a:pt x="55009" y="1094316"/>
                  </a:lnTo>
                  <a:lnTo>
                    <a:pt x="51107" y="1093932"/>
                  </a:lnTo>
                  <a:lnTo>
                    <a:pt x="13731" y="1073954"/>
                  </a:lnTo>
                  <a:lnTo>
                    <a:pt x="0" y="1045538"/>
                  </a:lnTo>
                  <a:lnTo>
                    <a:pt x="2445" y="1049198"/>
                  </a:lnTo>
                  <a:lnTo>
                    <a:pt x="11913" y="1058665"/>
                  </a:lnTo>
                  <a:lnTo>
                    <a:pt x="17372" y="1062313"/>
                  </a:lnTo>
                  <a:lnTo>
                    <a:pt x="29742" y="1067437"/>
                  </a:lnTo>
                  <a:lnTo>
                    <a:pt x="36181" y="1068718"/>
                  </a:lnTo>
                  <a:lnTo>
                    <a:pt x="5426887" y="1068718"/>
                  </a:lnTo>
                  <a:lnTo>
                    <a:pt x="5425413" y="1070923"/>
                  </a:lnTo>
                  <a:lnTo>
                    <a:pt x="5393279" y="1092395"/>
                  </a:lnTo>
                  <a:lnTo>
                    <a:pt x="5385551" y="1093932"/>
                  </a:lnTo>
                  <a:lnTo>
                    <a:pt x="5381649" y="1094316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1466850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4"/>
                  </a:lnTo>
                  <a:lnTo>
                    <a:pt x="0" y="1029156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9"/>
                  </a:lnTo>
                  <a:lnTo>
                    <a:pt x="5419724" y="47167"/>
                  </a:lnTo>
                  <a:lnTo>
                    <a:pt x="5419724" y="1029156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1466849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9"/>
                  </a:lnTo>
                  <a:lnTo>
                    <a:pt x="22435" y="8507"/>
                  </a:lnTo>
                  <a:lnTo>
                    <a:pt x="25191" y="666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379090" y="969"/>
                  </a:lnTo>
                  <a:lnTo>
                    <a:pt x="5382342" y="1616"/>
                  </a:lnTo>
                  <a:lnTo>
                    <a:pt x="5413057" y="25191"/>
                  </a:lnTo>
                  <a:lnTo>
                    <a:pt x="5418753" y="40633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7"/>
                  </a:lnTo>
                  <a:lnTo>
                    <a:pt x="5419400" y="1032440"/>
                  </a:lnTo>
                  <a:lnTo>
                    <a:pt x="5418753" y="1035690"/>
                  </a:lnTo>
                  <a:lnTo>
                    <a:pt x="5418107" y="1038941"/>
                  </a:lnTo>
                  <a:lnTo>
                    <a:pt x="5397288" y="1067816"/>
                  </a:lnTo>
                  <a:lnTo>
                    <a:pt x="5394531" y="1069658"/>
                  </a:lnTo>
                  <a:lnTo>
                    <a:pt x="5391622" y="1071213"/>
                  </a:lnTo>
                  <a:lnTo>
                    <a:pt x="5388560" y="1072481"/>
                  </a:lnTo>
                  <a:lnTo>
                    <a:pt x="5385498" y="1073750"/>
                  </a:lnTo>
                  <a:lnTo>
                    <a:pt x="5382342" y="1074707"/>
                  </a:lnTo>
                  <a:lnTo>
                    <a:pt x="5379090" y="1075354"/>
                  </a:lnTo>
                  <a:lnTo>
                    <a:pt x="5375839" y="1076001"/>
                  </a:lnTo>
                  <a:lnTo>
                    <a:pt x="5372556" y="1076324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47167" y="1076324"/>
                  </a:lnTo>
                  <a:lnTo>
                    <a:pt x="43884" y="1076001"/>
                  </a:lnTo>
                  <a:lnTo>
                    <a:pt x="40633" y="1075354"/>
                  </a:lnTo>
                  <a:lnTo>
                    <a:pt x="37382" y="1074707"/>
                  </a:lnTo>
                  <a:lnTo>
                    <a:pt x="6666" y="1051132"/>
                  </a:lnTo>
                  <a:lnTo>
                    <a:pt x="969" y="1035690"/>
                  </a:lnTo>
                  <a:lnTo>
                    <a:pt x="323" y="1032440"/>
                  </a:lnTo>
                  <a:lnTo>
                    <a:pt x="0" y="1029157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7874" y="1639887"/>
            <a:ext cx="271843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latin typeface="Cambria"/>
                <a:cs typeface="Cambria"/>
              </a:rPr>
              <a:t>Processor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latin typeface="Trebuchet MS"/>
                <a:cs typeface="Trebuchet MS"/>
              </a:rPr>
              <a:t>Intel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Core</a:t>
            </a:r>
            <a:r>
              <a:rPr sz="1350" spc="-3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i3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245" dirty="0">
                <a:latin typeface="Trebuchet MS"/>
                <a:cs typeface="Trebuchet MS"/>
              </a:rPr>
              <a:t>/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equivalent</a:t>
            </a:r>
            <a:r>
              <a:rPr sz="1350" spc="-4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or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higher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4" y="2724149"/>
            <a:ext cx="5455285" cy="1111885"/>
            <a:chOff x="600074" y="2724149"/>
            <a:chExt cx="5455285" cy="1111885"/>
          </a:xfrm>
        </p:grpSpPr>
        <p:sp>
          <p:nvSpPr>
            <p:cNvPr id="10" name="object 10"/>
            <p:cNvSpPr/>
            <p:nvPr/>
          </p:nvSpPr>
          <p:spPr>
            <a:xfrm>
              <a:off x="617206" y="2741281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39">
                  <a:moveTo>
                    <a:pt x="5426886" y="1068718"/>
                  </a:moveTo>
                  <a:lnTo>
                    <a:pt x="5368329" y="1068718"/>
                  </a:lnTo>
                  <a:lnTo>
                    <a:pt x="5374769" y="1067437"/>
                  </a:lnTo>
                  <a:lnTo>
                    <a:pt x="5387138" y="1062313"/>
                  </a:lnTo>
                  <a:lnTo>
                    <a:pt x="5410837" y="1031369"/>
                  </a:lnTo>
                  <a:lnTo>
                    <a:pt x="5412118" y="1024930"/>
                  </a:lnTo>
                  <a:lnTo>
                    <a:pt x="5412118" y="36181"/>
                  </a:lnTo>
                  <a:lnTo>
                    <a:pt x="5392598" y="2445"/>
                  </a:lnTo>
                  <a:lnTo>
                    <a:pt x="5388937" y="0"/>
                  </a:lnTo>
                  <a:lnTo>
                    <a:pt x="5393279" y="863"/>
                  </a:lnTo>
                  <a:lnTo>
                    <a:pt x="5425413" y="22334"/>
                  </a:lnTo>
                  <a:lnTo>
                    <a:pt x="5437715" y="55009"/>
                  </a:lnTo>
                  <a:lnTo>
                    <a:pt x="5437715" y="1038249"/>
                  </a:lnTo>
                  <a:lnTo>
                    <a:pt x="5429791" y="1064371"/>
                  </a:lnTo>
                  <a:lnTo>
                    <a:pt x="5426886" y="1068718"/>
                  </a:lnTo>
                  <a:close/>
                </a:path>
                <a:path w="5438140" h="1094739">
                  <a:moveTo>
                    <a:pt x="5381649" y="1094316"/>
                  </a:moveTo>
                  <a:lnTo>
                    <a:pt x="55009" y="1094316"/>
                  </a:lnTo>
                  <a:lnTo>
                    <a:pt x="51105" y="1093932"/>
                  </a:lnTo>
                  <a:lnTo>
                    <a:pt x="13731" y="1073954"/>
                  </a:lnTo>
                  <a:lnTo>
                    <a:pt x="95" y="1046015"/>
                  </a:lnTo>
                  <a:lnTo>
                    <a:pt x="0" y="1045538"/>
                  </a:lnTo>
                  <a:lnTo>
                    <a:pt x="36181" y="1068718"/>
                  </a:lnTo>
                  <a:lnTo>
                    <a:pt x="5426886" y="1068718"/>
                  </a:lnTo>
                  <a:lnTo>
                    <a:pt x="5425413" y="1070923"/>
                  </a:lnTo>
                  <a:lnTo>
                    <a:pt x="5393279" y="1092394"/>
                  </a:lnTo>
                  <a:lnTo>
                    <a:pt x="5385551" y="1093932"/>
                  </a:lnTo>
                  <a:lnTo>
                    <a:pt x="5381649" y="1094316"/>
                  </a:lnTo>
                  <a:close/>
                </a:path>
              </a:pathLst>
            </a:custGeom>
            <a:solidFill>
              <a:srgbClr val="B1A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99" y="273367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4"/>
                  </a:lnTo>
                  <a:lnTo>
                    <a:pt x="0" y="1029157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9"/>
                  </a:lnTo>
                  <a:lnTo>
                    <a:pt x="5419724" y="47167"/>
                  </a:lnTo>
                  <a:lnTo>
                    <a:pt x="5419724" y="1029157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99" y="273367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397288" y="8507"/>
                  </a:lnTo>
                  <a:lnTo>
                    <a:pt x="5400044" y="10349"/>
                  </a:lnTo>
                  <a:lnTo>
                    <a:pt x="5418753" y="40633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7"/>
                  </a:lnTo>
                  <a:lnTo>
                    <a:pt x="5419400" y="1032439"/>
                  </a:lnTo>
                  <a:lnTo>
                    <a:pt x="5418753" y="1035690"/>
                  </a:lnTo>
                  <a:lnTo>
                    <a:pt x="5418107" y="1038941"/>
                  </a:lnTo>
                  <a:lnTo>
                    <a:pt x="5397288" y="1067816"/>
                  </a:lnTo>
                  <a:lnTo>
                    <a:pt x="5394531" y="1069658"/>
                  </a:lnTo>
                  <a:lnTo>
                    <a:pt x="5379090" y="1075354"/>
                  </a:lnTo>
                  <a:lnTo>
                    <a:pt x="5375839" y="1076001"/>
                  </a:lnTo>
                  <a:lnTo>
                    <a:pt x="5372556" y="1076324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47167" y="1076324"/>
                  </a:lnTo>
                  <a:lnTo>
                    <a:pt x="43884" y="1076001"/>
                  </a:lnTo>
                  <a:lnTo>
                    <a:pt x="40633" y="1075354"/>
                  </a:lnTo>
                  <a:lnTo>
                    <a:pt x="37382" y="1074707"/>
                  </a:lnTo>
                  <a:lnTo>
                    <a:pt x="8507" y="1053888"/>
                  </a:lnTo>
                  <a:lnTo>
                    <a:pt x="6666" y="1051132"/>
                  </a:lnTo>
                  <a:lnTo>
                    <a:pt x="0" y="1029157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B1A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7874" y="2906712"/>
            <a:ext cx="319151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0" dirty="0">
                <a:latin typeface="Cambria"/>
                <a:cs typeface="Cambria"/>
              </a:rPr>
              <a:t>RAM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20" dirty="0">
                <a:latin typeface="Trebuchet MS"/>
                <a:cs typeface="Trebuchet MS"/>
              </a:rPr>
              <a:t>Minimum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135" dirty="0">
                <a:latin typeface="Trebuchet MS"/>
                <a:cs typeface="Trebuchet MS"/>
              </a:rPr>
              <a:t>4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105" dirty="0">
                <a:latin typeface="Trebuchet MS"/>
                <a:cs typeface="Trebuchet MS"/>
              </a:rPr>
              <a:t>GB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509" dirty="0">
                <a:latin typeface="Trebuchet MS"/>
                <a:cs typeface="Trebuchet MS"/>
              </a:rPr>
              <a:t>—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spc="20" dirty="0">
                <a:latin typeface="Trebuchet MS"/>
                <a:cs typeface="Trebuchet MS"/>
              </a:rPr>
              <a:t>Recommended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155" dirty="0">
                <a:latin typeface="Trebuchet MS"/>
                <a:cs typeface="Trebuchet MS"/>
              </a:rPr>
              <a:t>8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55" dirty="0">
                <a:latin typeface="Trebuchet MS"/>
                <a:cs typeface="Trebuchet MS"/>
              </a:rPr>
              <a:t>GB+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4" y="3990974"/>
            <a:ext cx="5455285" cy="1111885"/>
            <a:chOff x="600074" y="3990974"/>
            <a:chExt cx="5455285" cy="1111885"/>
          </a:xfrm>
        </p:grpSpPr>
        <p:sp>
          <p:nvSpPr>
            <p:cNvPr id="15" name="object 15"/>
            <p:cNvSpPr/>
            <p:nvPr/>
          </p:nvSpPr>
          <p:spPr>
            <a:xfrm>
              <a:off x="617206" y="4008105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39">
                  <a:moveTo>
                    <a:pt x="5426886" y="1068718"/>
                  </a:moveTo>
                  <a:lnTo>
                    <a:pt x="5368330" y="1068718"/>
                  </a:lnTo>
                  <a:lnTo>
                    <a:pt x="5374769" y="1067437"/>
                  </a:lnTo>
                  <a:lnTo>
                    <a:pt x="5387138" y="1062313"/>
                  </a:lnTo>
                  <a:lnTo>
                    <a:pt x="5410837" y="1031369"/>
                  </a:lnTo>
                  <a:lnTo>
                    <a:pt x="5412118" y="1024930"/>
                  </a:lnTo>
                  <a:lnTo>
                    <a:pt x="5412118" y="36181"/>
                  </a:lnTo>
                  <a:lnTo>
                    <a:pt x="5392598" y="2445"/>
                  </a:lnTo>
                  <a:lnTo>
                    <a:pt x="5388937" y="0"/>
                  </a:lnTo>
                  <a:lnTo>
                    <a:pt x="5393279" y="863"/>
                  </a:lnTo>
                  <a:lnTo>
                    <a:pt x="5425413" y="22334"/>
                  </a:lnTo>
                  <a:lnTo>
                    <a:pt x="5437716" y="55009"/>
                  </a:lnTo>
                  <a:lnTo>
                    <a:pt x="5437716" y="1038249"/>
                  </a:lnTo>
                  <a:lnTo>
                    <a:pt x="5429791" y="1064370"/>
                  </a:lnTo>
                  <a:lnTo>
                    <a:pt x="5426886" y="1068718"/>
                  </a:lnTo>
                  <a:close/>
                </a:path>
                <a:path w="5438140" h="1094739">
                  <a:moveTo>
                    <a:pt x="5381649" y="1094316"/>
                  </a:moveTo>
                  <a:lnTo>
                    <a:pt x="55009" y="1094316"/>
                  </a:lnTo>
                  <a:lnTo>
                    <a:pt x="51107" y="1093932"/>
                  </a:lnTo>
                  <a:lnTo>
                    <a:pt x="13731" y="1073954"/>
                  </a:lnTo>
                  <a:lnTo>
                    <a:pt x="0" y="1045537"/>
                  </a:lnTo>
                  <a:lnTo>
                    <a:pt x="2445" y="1049198"/>
                  </a:lnTo>
                  <a:lnTo>
                    <a:pt x="11913" y="1058665"/>
                  </a:lnTo>
                  <a:lnTo>
                    <a:pt x="17372" y="1062313"/>
                  </a:lnTo>
                  <a:lnTo>
                    <a:pt x="29742" y="1067437"/>
                  </a:lnTo>
                  <a:lnTo>
                    <a:pt x="36181" y="1068718"/>
                  </a:lnTo>
                  <a:lnTo>
                    <a:pt x="5426886" y="1068718"/>
                  </a:lnTo>
                  <a:lnTo>
                    <a:pt x="5425413" y="1070923"/>
                  </a:lnTo>
                  <a:lnTo>
                    <a:pt x="5393279" y="1092394"/>
                  </a:lnTo>
                  <a:lnTo>
                    <a:pt x="5385551" y="1093932"/>
                  </a:lnTo>
                  <a:lnTo>
                    <a:pt x="5381649" y="1094316"/>
                  </a:lnTo>
                  <a:close/>
                </a:path>
              </a:pathLst>
            </a:custGeom>
            <a:solidFill>
              <a:srgbClr val="99B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99" y="4000499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4"/>
                  </a:lnTo>
                  <a:lnTo>
                    <a:pt x="0" y="1029156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9"/>
                  </a:lnTo>
                  <a:lnTo>
                    <a:pt x="5419724" y="47167"/>
                  </a:lnTo>
                  <a:lnTo>
                    <a:pt x="5419724" y="1029156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D9E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599" y="4000499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28101" y="5110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70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397288" y="8507"/>
                  </a:lnTo>
                  <a:lnTo>
                    <a:pt x="5400044" y="10348"/>
                  </a:lnTo>
                  <a:lnTo>
                    <a:pt x="5418753" y="40633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6"/>
                  </a:lnTo>
                  <a:lnTo>
                    <a:pt x="5419400" y="1032439"/>
                  </a:lnTo>
                  <a:lnTo>
                    <a:pt x="5418753" y="1035690"/>
                  </a:lnTo>
                  <a:lnTo>
                    <a:pt x="5418107" y="1038941"/>
                  </a:lnTo>
                  <a:lnTo>
                    <a:pt x="5411215" y="1053888"/>
                  </a:lnTo>
                  <a:lnTo>
                    <a:pt x="5409374" y="1056644"/>
                  </a:lnTo>
                  <a:lnTo>
                    <a:pt x="5397288" y="1067816"/>
                  </a:lnTo>
                  <a:lnTo>
                    <a:pt x="5394531" y="1069657"/>
                  </a:lnTo>
                  <a:lnTo>
                    <a:pt x="5391622" y="1071213"/>
                  </a:lnTo>
                  <a:lnTo>
                    <a:pt x="5388560" y="1072481"/>
                  </a:lnTo>
                  <a:lnTo>
                    <a:pt x="5385498" y="1073750"/>
                  </a:lnTo>
                  <a:lnTo>
                    <a:pt x="5382342" y="1074707"/>
                  </a:lnTo>
                  <a:lnTo>
                    <a:pt x="5379090" y="1075354"/>
                  </a:lnTo>
                  <a:lnTo>
                    <a:pt x="5375839" y="1076001"/>
                  </a:lnTo>
                  <a:lnTo>
                    <a:pt x="5372556" y="1076324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47167" y="1076324"/>
                  </a:lnTo>
                  <a:lnTo>
                    <a:pt x="43884" y="1076001"/>
                  </a:lnTo>
                  <a:lnTo>
                    <a:pt x="40633" y="1075354"/>
                  </a:lnTo>
                  <a:lnTo>
                    <a:pt x="37382" y="1074707"/>
                  </a:lnTo>
                  <a:lnTo>
                    <a:pt x="8507" y="1053888"/>
                  </a:lnTo>
                  <a:lnTo>
                    <a:pt x="6666" y="1051132"/>
                  </a:lnTo>
                  <a:lnTo>
                    <a:pt x="5111" y="1048223"/>
                  </a:lnTo>
                  <a:lnTo>
                    <a:pt x="3842" y="1045160"/>
                  </a:lnTo>
                  <a:lnTo>
                    <a:pt x="2574" y="1042098"/>
                  </a:lnTo>
                  <a:lnTo>
                    <a:pt x="1616" y="1038941"/>
                  </a:lnTo>
                  <a:lnTo>
                    <a:pt x="969" y="1035690"/>
                  </a:lnTo>
                  <a:lnTo>
                    <a:pt x="323" y="1032439"/>
                  </a:lnTo>
                  <a:lnTo>
                    <a:pt x="0" y="1029156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99BF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7874" y="4173537"/>
            <a:ext cx="140335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latin typeface="Cambria"/>
                <a:cs typeface="Cambria"/>
              </a:rPr>
              <a:t>Storage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latin typeface="Trebuchet MS"/>
                <a:cs typeface="Trebuchet MS"/>
              </a:rPr>
              <a:t>Minimum</a:t>
            </a:r>
            <a:r>
              <a:rPr sz="1350" spc="65" dirty="0">
                <a:latin typeface="Trebuchet MS"/>
                <a:cs typeface="Trebuchet MS"/>
              </a:rPr>
              <a:t> </a:t>
            </a:r>
            <a:r>
              <a:rPr sz="1350" spc="114" dirty="0">
                <a:latin typeface="Trebuchet MS"/>
                <a:cs typeface="Trebuchet MS"/>
              </a:rPr>
              <a:t>256</a:t>
            </a:r>
            <a:r>
              <a:rPr sz="1350" spc="70" dirty="0">
                <a:latin typeface="Trebuchet MS"/>
                <a:cs typeface="Trebuchet MS"/>
              </a:rPr>
              <a:t> </a:t>
            </a:r>
            <a:r>
              <a:rPr sz="1350" spc="80" dirty="0">
                <a:latin typeface="Trebuchet MS"/>
                <a:cs typeface="Trebuchet MS"/>
              </a:rPr>
              <a:t>GB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4" y="5257799"/>
            <a:ext cx="5455285" cy="1111885"/>
            <a:chOff x="600074" y="5257799"/>
            <a:chExt cx="5455285" cy="1111885"/>
          </a:xfrm>
        </p:grpSpPr>
        <p:sp>
          <p:nvSpPr>
            <p:cNvPr id="20" name="object 20"/>
            <p:cNvSpPr/>
            <p:nvPr/>
          </p:nvSpPr>
          <p:spPr>
            <a:xfrm>
              <a:off x="617206" y="5274931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39">
                  <a:moveTo>
                    <a:pt x="5426887" y="1068717"/>
                  </a:moveTo>
                  <a:lnTo>
                    <a:pt x="5368329" y="1068717"/>
                  </a:lnTo>
                  <a:lnTo>
                    <a:pt x="5374769" y="1067436"/>
                  </a:lnTo>
                  <a:lnTo>
                    <a:pt x="5387136" y="1062313"/>
                  </a:lnTo>
                  <a:lnTo>
                    <a:pt x="5410836" y="1031369"/>
                  </a:lnTo>
                  <a:lnTo>
                    <a:pt x="5412118" y="1024930"/>
                  </a:lnTo>
                  <a:lnTo>
                    <a:pt x="5412118" y="36181"/>
                  </a:lnTo>
                  <a:lnTo>
                    <a:pt x="5392598" y="2444"/>
                  </a:lnTo>
                  <a:lnTo>
                    <a:pt x="5388938" y="0"/>
                  </a:lnTo>
                  <a:lnTo>
                    <a:pt x="5393279" y="863"/>
                  </a:lnTo>
                  <a:lnTo>
                    <a:pt x="5425413" y="22334"/>
                  </a:lnTo>
                  <a:lnTo>
                    <a:pt x="5437715" y="55008"/>
                  </a:lnTo>
                  <a:lnTo>
                    <a:pt x="5437715" y="1038248"/>
                  </a:lnTo>
                  <a:lnTo>
                    <a:pt x="5429791" y="1064370"/>
                  </a:lnTo>
                  <a:lnTo>
                    <a:pt x="5426887" y="1068717"/>
                  </a:lnTo>
                  <a:close/>
                </a:path>
                <a:path w="5438140" h="1094739">
                  <a:moveTo>
                    <a:pt x="5381648" y="1094315"/>
                  </a:moveTo>
                  <a:lnTo>
                    <a:pt x="55009" y="1094315"/>
                  </a:lnTo>
                  <a:lnTo>
                    <a:pt x="51106" y="1093931"/>
                  </a:lnTo>
                  <a:lnTo>
                    <a:pt x="13731" y="1073954"/>
                  </a:lnTo>
                  <a:lnTo>
                    <a:pt x="0" y="1045538"/>
                  </a:lnTo>
                  <a:lnTo>
                    <a:pt x="2445" y="1049198"/>
                  </a:lnTo>
                  <a:lnTo>
                    <a:pt x="11913" y="1058665"/>
                  </a:lnTo>
                  <a:lnTo>
                    <a:pt x="17372" y="1062313"/>
                  </a:lnTo>
                  <a:lnTo>
                    <a:pt x="29741" y="1067436"/>
                  </a:lnTo>
                  <a:lnTo>
                    <a:pt x="36181" y="1068717"/>
                  </a:lnTo>
                  <a:lnTo>
                    <a:pt x="5426887" y="1068717"/>
                  </a:lnTo>
                  <a:lnTo>
                    <a:pt x="5425413" y="1070923"/>
                  </a:lnTo>
                  <a:lnTo>
                    <a:pt x="5393279" y="1092393"/>
                  </a:lnTo>
                  <a:lnTo>
                    <a:pt x="5385551" y="1093931"/>
                  </a:lnTo>
                  <a:lnTo>
                    <a:pt x="5381648" y="1094315"/>
                  </a:lnTo>
                  <a:close/>
                </a:path>
              </a:pathLst>
            </a:custGeom>
            <a:solidFill>
              <a:srgbClr val="C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599" y="526732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4"/>
                  </a:lnTo>
                  <a:lnTo>
                    <a:pt x="0" y="1029156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9"/>
                  </a:lnTo>
                  <a:lnTo>
                    <a:pt x="5419724" y="47167"/>
                  </a:lnTo>
                  <a:lnTo>
                    <a:pt x="5419724" y="1029156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599" y="526732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3"/>
                  </a:lnTo>
                  <a:lnTo>
                    <a:pt x="5111" y="28100"/>
                  </a:lnTo>
                  <a:lnTo>
                    <a:pt x="6666" y="25191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9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31163" y="3842"/>
                  </a:lnTo>
                  <a:lnTo>
                    <a:pt x="34225" y="2573"/>
                  </a:lnTo>
                  <a:lnTo>
                    <a:pt x="37382" y="1616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379090" y="969"/>
                  </a:lnTo>
                  <a:lnTo>
                    <a:pt x="5382342" y="1616"/>
                  </a:lnTo>
                  <a:lnTo>
                    <a:pt x="5404938" y="14785"/>
                  </a:lnTo>
                  <a:lnTo>
                    <a:pt x="5407281" y="17129"/>
                  </a:lnTo>
                  <a:lnTo>
                    <a:pt x="5418753" y="40633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6"/>
                  </a:lnTo>
                  <a:lnTo>
                    <a:pt x="5419400" y="1032439"/>
                  </a:lnTo>
                  <a:lnTo>
                    <a:pt x="5418753" y="1035690"/>
                  </a:lnTo>
                  <a:lnTo>
                    <a:pt x="5418107" y="1038941"/>
                  </a:lnTo>
                  <a:lnTo>
                    <a:pt x="5411215" y="1053888"/>
                  </a:lnTo>
                  <a:lnTo>
                    <a:pt x="5409374" y="1056644"/>
                  </a:lnTo>
                  <a:lnTo>
                    <a:pt x="5397288" y="1067816"/>
                  </a:lnTo>
                  <a:lnTo>
                    <a:pt x="5394531" y="1069657"/>
                  </a:lnTo>
                  <a:lnTo>
                    <a:pt x="5391622" y="1071213"/>
                  </a:lnTo>
                  <a:lnTo>
                    <a:pt x="5388560" y="1072481"/>
                  </a:lnTo>
                  <a:lnTo>
                    <a:pt x="5385498" y="1073750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22435" y="1067816"/>
                  </a:lnTo>
                  <a:lnTo>
                    <a:pt x="19679" y="1065974"/>
                  </a:lnTo>
                  <a:lnTo>
                    <a:pt x="8507" y="1053888"/>
                  </a:lnTo>
                  <a:lnTo>
                    <a:pt x="6666" y="1051132"/>
                  </a:lnTo>
                  <a:lnTo>
                    <a:pt x="5111" y="1048223"/>
                  </a:lnTo>
                  <a:lnTo>
                    <a:pt x="3842" y="1045159"/>
                  </a:lnTo>
                  <a:lnTo>
                    <a:pt x="2574" y="1042097"/>
                  </a:lnTo>
                  <a:lnTo>
                    <a:pt x="1616" y="1038941"/>
                  </a:lnTo>
                  <a:lnTo>
                    <a:pt x="969" y="1035690"/>
                  </a:lnTo>
                  <a:lnTo>
                    <a:pt x="323" y="1032439"/>
                  </a:lnTo>
                  <a:lnTo>
                    <a:pt x="0" y="1029156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C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7874" y="5440362"/>
            <a:ext cx="166243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latin typeface="Cambria"/>
                <a:cs typeface="Cambria"/>
              </a:rPr>
              <a:t>Display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latin typeface="Trebuchet MS"/>
                <a:cs typeface="Trebuchet MS"/>
              </a:rPr>
              <a:t>1366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×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110" dirty="0">
                <a:latin typeface="Trebuchet MS"/>
                <a:cs typeface="Trebuchet MS"/>
              </a:rPr>
              <a:t>768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or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higher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074" y="6524624"/>
            <a:ext cx="5455285" cy="1111885"/>
            <a:chOff x="600074" y="6524624"/>
            <a:chExt cx="5455285" cy="1111885"/>
          </a:xfrm>
        </p:grpSpPr>
        <p:sp>
          <p:nvSpPr>
            <p:cNvPr id="25" name="object 25"/>
            <p:cNvSpPr/>
            <p:nvPr/>
          </p:nvSpPr>
          <p:spPr>
            <a:xfrm>
              <a:off x="617206" y="6541755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40">
                  <a:moveTo>
                    <a:pt x="5426887" y="1068718"/>
                  </a:moveTo>
                  <a:lnTo>
                    <a:pt x="5368330" y="1068718"/>
                  </a:lnTo>
                  <a:lnTo>
                    <a:pt x="5374769" y="1067436"/>
                  </a:lnTo>
                  <a:lnTo>
                    <a:pt x="5387139" y="1062312"/>
                  </a:lnTo>
                  <a:lnTo>
                    <a:pt x="5410837" y="1031369"/>
                  </a:lnTo>
                  <a:lnTo>
                    <a:pt x="5412118" y="1024930"/>
                  </a:lnTo>
                  <a:lnTo>
                    <a:pt x="5412118" y="36181"/>
                  </a:lnTo>
                  <a:lnTo>
                    <a:pt x="5392598" y="2446"/>
                  </a:lnTo>
                  <a:lnTo>
                    <a:pt x="5388937" y="0"/>
                  </a:lnTo>
                  <a:lnTo>
                    <a:pt x="5393279" y="863"/>
                  </a:lnTo>
                  <a:lnTo>
                    <a:pt x="5425413" y="22334"/>
                  </a:lnTo>
                  <a:lnTo>
                    <a:pt x="5437716" y="55009"/>
                  </a:lnTo>
                  <a:lnTo>
                    <a:pt x="5437716" y="1038249"/>
                  </a:lnTo>
                  <a:lnTo>
                    <a:pt x="5429791" y="1064371"/>
                  </a:lnTo>
                  <a:lnTo>
                    <a:pt x="5426887" y="1068718"/>
                  </a:lnTo>
                  <a:close/>
                </a:path>
                <a:path w="5438140" h="1094740">
                  <a:moveTo>
                    <a:pt x="5381649" y="1094316"/>
                  </a:moveTo>
                  <a:lnTo>
                    <a:pt x="55009" y="1094316"/>
                  </a:lnTo>
                  <a:lnTo>
                    <a:pt x="51107" y="1093932"/>
                  </a:lnTo>
                  <a:lnTo>
                    <a:pt x="13731" y="1073954"/>
                  </a:lnTo>
                  <a:lnTo>
                    <a:pt x="95" y="1046016"/>
                  </a:lnTo>
                  <a:lnTo>
                    <a:pt x="0" y="1045537"/>
                  </a:lnTo>
                  <a:lnTo>
                    <a:pt x="36181" y="1068718"/>
                  </a:lnTo>
                  <a:lnTo>
                    <a:pt x="5426887" y="1068718"/>
                  </a:lnTo>
                  <a:lnTo>
                    <a:pt x="5425413" y="1070923"/>
                  </a:lnTo>
                  <a:lnTo>
                    <a:pt x="5393279" y="1092394"/>
                  </a:lnTo>
                  <a:lnTo>
                    <a:pt x="5385551" y="1093932"/>
                  </a:lnTo>
                  <a:lnTo>
                    <a:pt x="5381649" y="1094316"/>
                  </a:lnTo>
                  <a:close/>
                </a:path>
              </a:pathLst>
            </a:custGeom>
            <a:solidFill>
              <a:srgbClr val="B1A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599" y="6534149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4"/>
                  </a:lnTo>
                  <a:lnTo>
                    <a:pt x="0" y="1029157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8"/>
                  </a:lnTo>
                  <a:lnTo>
                    <a:pt x="5419724" y="47167"/>
                  </a:lnTo>
                  <a:lnTo>
                    <a:pt x="5419724" y="1029157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599" y="6534149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8507" y="22435"/>
                  </a:lnTo>
                  <a:lnTo>
                    <a:pt x="10349" y="19679"/>
                  </a:lnTo>
                  <a:lnTo>
                    <a:pt x="12442" y="17128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404938" y="14785"/>
                  </a:lnTo>
                  <a:lnTo>
                    <a:pt x="5407281" y="17128"/>
                  </a:lnTo>
                  <a:lnTo>
                    <a:pt x="5418753" y="40632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7"/>
                  </a:lnTo>
                  <a:lnTo>
                    <a:pt x="5419400" y="1032439"/>
                  </a:lnTo>
                  <a:lnTo>
                    <a:pt x="5418753" y="1035690"/>
                  </a:lnTo>
                  <a:lnTo>
                    <a:pt x="5418107" y="1038941"/>
                  </a:lnTo>
                  <a:lnTo>
                    <a:pt x="5397288" y="1067816"/>
                  </a:lnTo>
                  <a:lnTo>
                    <a:pt x="5394531" y="1069657"/>
                  </a:lnTo>
                  <a:lnTo>
                    <a:pt x="5379090" y="1075354"/>
                  </a:lnTo>
                  <a:lnTo>
                    <a:pt x="5375839" y="1076001"/>
                  </a:lnTo>
                  <a:lnTo>
                    <a:pt x="5372556" y="1076324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47167" y="1076324"/>
                  </a:lnTo>
                  <a:lnTo>
                    <a:pt x="43884" y="1076001"/>
                  </a:lnTo>
                  <a:lnTo>
                    <a:pt x="40633" y="1075354"/>
                  </a:lnTo>
                  <a:lnTo>
                    <a:pt x="37382" y="1074707"/>
                  </a:lnTo>
                  <a:lnTo>
                    <a:pt x="22435" y="1067815"/>
                  </a:lnTo>
                  <a:lnTo>
                    <a:pt x="19679" y="1065974"/>
                  </a:lnTo>
                  <a:lnTo>
                    <a:pt x="8507" y="1053887"/>
                  </a:lnTo>
                  <a:lnTo>
                    <a:pt x="6666" y="1051131"/>
                  </a:lnTo>
                  <a:lnTo>
                    <a:pt x="5111" y="1048222"/>
                  </a:lnTo>
                  <a:lnTo>
                    <a:pt x="3842" y="1045159"/>
                  </a:lnTo>
                  <a:lnTo>
                    <a:pt x="2574" y="1042097"/>
                  </a:lnTo>
                  <a:lnTo>
                    <a:pt x="1616" y="1038941"/>
                  </a:lnTo>
                  <a:lnTo>
                    <a:pt x="969" y="1035690"/>
                  </a:lnTo>
                  <a:lnTo>
                    <a:pt x="323" y="1032439"/>
                  </a:lnTo>
                  <a:lnTo>
                    <a:pt x="0" y="1029157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B1A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7874" y="6707187"/>
            <a:ext cx="148336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latin typeface="Cambria"/>
                <a:cs typeface="Cambria"/>
              </a:rPr>
              <a:t>Network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latin typeface="Trebuchet MS"/>
                <a:cs typeface="Trebuchet MS"/>
              </a:rPr>
              <a:t>Stable</a:t>
            </a:r>
            <a:r>
              <a:rPr sz="1350" spc="35" dirty="0">
                <a:latin typeface="Trebuchet MS"/>
                <a:cs typeface="Trebuchet MS"/>
              </a:rPr>
              <a:t> </a:t>
            </a:r>
            <a:r>
              <a:rPr sz="1350" spc="135" dirty="0">
                <a:latin typeface="Trebuchet MS"/>
                <a:cs typeface="Trebuchet MS"/>
              </a:rPr>
              <a:t>LAN</a:t>
            </a:r>
            <a:r>
              <a:rPr sz="1350" spc="50" dirty="0">
                <a:latin typeface="Trebuchet MS"/>
                <a:cs typeface="Trebuchet MS"/>
              </a:rPr>
              <a:t> </a:t>
            </a:r>
            <a:r>
              <a:rPr sz="1350" spc="-250" dirty="0">
                <a:latin typeface="Trebuchet MS"/>
                <a:cs typeface="Trebuchet MS"/>
              </a:rPr>
              <a:t>/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Wi</a:t>
            </a:r>
            <a:r>
              <a:rPr sz="1350" dirty="0">
                <a:latin typeface="PMingLiU-ExtB"/>
                <a:cs typeface="PMingLiU-ExtB"/>
              </a:rPr>
              <a:t>-</a:t>
            </a:r>
            <a:r>
              <a:rPr sz="1350" spc="-25" dirty="0">
                <a:latin typeface="Trebuchet MS"/>
                <a:cs typeface="Trebuchet MS"/>
              </a:rPr>
              <a:t>Fi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0074" y="7791449"/>
            <a:ext cx="5455285" cy="1111885"/>
            <a:chOff x="600074" y="7791449"/>
            <a:chExt cx="5455285" cy="1111885"/>
          </a:xfrm>
        </p:grpSpPr>
        <p:sp>
          <p:nvSpPr>
            <p:cNvPr id="30" name="object 30"/>
            <p:cNvSpPr/>
            <p:nvPr/>
          </p:nvSpPr>
          <p:spPr>
            <a:xfrm>
              <a:off x="617206" y="7808581"/>
              <a:ext cx="5438140" cy="1094740"/>
            </a:xfrm>
            <a:custGeom>
              <a:avLst/>
              <a:gdLst/>
              <a:ahLst/>
              <a:cxnLst/>
              <a:rect l="l" t="t" r="r" b="b"/>
              <a:pathLst>
                <a:path w="5438140" h="1094740">
                  <a:moveTo>
                    <a:pt x="5426886" y="1068717"/>
                  </a:moveTo>
                  <a:lnTo>
                    <a:pt x="5368330" y="1068717"/>
                  </a:lnTo>
                  <a:lnTo>
                    <a:pt x="5374769" y="1067436"/>
                  </a:lnTo>
                  <a:lnTo>
                    <a:pt x="5387137" y="1062312"/>
                  </a:lnTo>
                  <a:lnTo>
                    <a:pt x="5410837" y="1031368"/>
                  </a:lnTo>
                  <a:lnTo>
                    <a:pt x="5412118" y="1024929"/>
                  </a:lnTo>
                  <a:lnTo>
                    <a:pt x="5412118" y="36181"/>
                  </a:lnTo>
                  <a:lnTo>
                    <a:pt x="5392598" y="2445"/>
                  </a:lnTo>
                  <a:lnTo>
                    <a:pt x="5388938" y="0"/>
                  </a:lnTo>
                  <a:lnTo>
                    <a:pt x="5393279" y="862"/>
                  </a:lnTo>
                  <a:lnTo>
                    <a:pt x="5425413" y="22333"/>
                  </a:lnTo>
                  <a:lnTo>
                    <a:pt x="5437716" y="55009"/>
                  </a:lnTo>
                  <a:lnTo>
                    <a:pt x="5437716" y="1038248"/>
                  </a:lnTo>
                  <a:lnTo>
                    <a:pt x="5429791" y="1064370"/>
                  </a:lnTo>
                  <a:lnTo>
                    <a:pt x="5426886" y="1068717"/>
                  </a:lnTo>
                  <a:close/>
                </a:path>
                <a:path w="5438140" h="1094740">
                  <a:moveTo>
                    <a:pt x="5381649" y="1094315"/>
                  </a:moveTo>
                  <a:lnTo>
                    <a:pt x="55009" y="1094315"/>
                  </a:lnTo>
                  <a:lnTo>
                    <a:pt x="51107" y="1093930"/>
                  </a:lnTo>
                  <a:lnTo>
                    <a:pt x="13731" y="1073953"/>
                  </a:lnTo>
                  <a:lnTo>
                    <a:pt x="95" y="1046015"/>
                  </a:lnTo>
                  <a:lnTo>
                    <a:pt x="0" y="1045537"/>
                  </a:lnTo>
                  <a:lnTo>
                    <a:pt x="36181" y="1068717"/>
                  </a:lnTo>
                  <a:lnTo>
                    <a:pt x="5426886" y="1068717"/>
                  </a:lnTo>
                  <a:lnTo>
                    <a:pt x="5425413" y="1070921"/>
                  </a:lnTo>
                  <a:lnTo>
                    <a:pt x="5393279" y="1092393"/>
                  </a:lnTo>
                  <a:lnTo>
                    <a:pt x="5385551" y="1093930"/>
                  </a:lnTo>
                  <a:lnTo>
                    <a:pt x="5381649" y="1094315"/>
                  </a:lnTo>
                  <a:close/>
                </a:path>
              </a:pathLst>
            </a:custGeom>
            <a:solidFill>
              <a:srgbClr val="99B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599" y="780097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5372556" y="1076324"/>
                  </a:moveTo>
                  <a:lnTo>
                    <a:pt x="47167" y="1076324"/>
                  </a:lnTo>
                  <a:lnTo>
                    <a:pt x="43884" y="1076001"/>
                  </a:lnTo>
                  <a:lnTo>
                    <a:pt x="10349" y="1056643"/>
                  </a:lnTo>
                  <a:lnTo>
                    <a:pt x="0" y="1029156"/>
                  </a:lnTo>
                  <a:lnTo>
                    <a:pt x="0" y="1025842"/>
                  </a:lnTo>
                  <a:lnTo>
                    <a:pt x="0" y="47167"/>
                  </a:lnTo>
                  <a:lnTo>
                    <a:pt x="17129" y="12441"/>
                  </a:lnTo>
                  <a:lnTo>
                    <a:pt x="47167" y="0"/>
                  </a:lnTo>
                  <a:lnTo>
                    <a:pt x="5372556" y="0"/>
                  </a:lnTo>
                  <a:lnTo>
                    <a:pt x="5407281" y="17128"/>
                  </a:lnTo>
                  <a:lnTo>
                    <a:pt x="5419724" y="47167"/>
                  </a:lnTo>
                  <a:lnTo>
                    <a:pt x="5419724" y="1029156"/>
                  </a:lnTo>
                  <a:lnTo>
                    <a:pt x="5402594" y="1063882"/>
                  </a:lnTo>
                  <a:lnTo>
                    <a:pt x="5375839" y="1076001"/>
                  </a:lnTo>
                  <a:lnTo>
                    <a:pt x="5372556" y="1076324"/>
                  </a:lnTo>
                  <a:close/>
                </a:path>
              </a:pathLst>
            </a:custGeom>
            <a:solidFill>
              <a:srgbClr val="D9E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9599" y="7800974"/>
              <a:ext cx="5419725" cy="1076325"/>
            </a:xfrm>
            <a:custGeom>
              <a:avLst/>
              <a:gdLst/>
              <a:ahLst/>
              <a:cxnLst/>
              <a:rect l="l" t="t" r="r" b="b"/>
              <a:pathLst>
                <a:path w="5419725" h="1076325">
                  <a:moveTo>
                    <a:pt x="0" y="10258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3" y="43884"/>
                  </a:lnTo>
                  <a:lnTo>
                    <a:pt x="969" y="40633"/>
                  </a:lnTo>
                  <a:lnTo>
                    <a:pt x="1616" y="37382"/>
                  </a:lnTo>
                  <a:lnTo>
                    <a:pt x="2574" y="34225"/>
                  </a:lnTo>
                  <a:lnTo>
                    <a:pt x="3842" y="31162"/>
                  </a:lnTo>
                  <a:lnTo>
                    <a:pt x="5111" y="28099"/>
                  </a:lnTo>
                  <a:lnTo>
                    <a:pt x="6666" y="25190"/>
                  </a:lnTo>
                  <a:lnTo>
                    <a:pt x="8507" y="22434"/>
                  </a:lnTo>
                  <a:lnTo>
                    <a:pt x="10349" y="19678"/>
                  </a:lnTo>
                  <a:lnTo>
                    <a:pt x="12442" y="17128"/>
                  </a:lnTo>
                  <a:lnTo>
                    <a:pt x="14785" y="14785"/>
                  </a:lnTo>
                  <a:lnTo>
                    <a:pt x="17129" y="12441"/>
                  </a:lnTo>
                  <a:lnTo>
                    <a:pt x="19679" y="10348"/>
                  </a:lnTo>
                  <a:lnTo>
                    <a:pt x="22435" y="8507"/>
                  </a:lnTo>
                  <a:lnTo>
                    <a:pt x="25191" y="6665"/>
                  </a:lnTo>
                  <a:lnTo>
                    <a:pt x="40633" y="969"/>
                  </a:lnTo>
                  <a:lnTo>
                    <a:pt x="43884" y="323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369242" y="0"/>
                  </a:lnTo>
                  <a:lnTo>
                    <a:pt x="5372556" y="0"/>
                  </a:lnTo>
                  <a:lnTo>
                    <a:pt x="5375839" y="323"/>
                  </a:lnTo>
                  <a:lnTo>
                    <a:pt x="5379090" y="969"/>
                  </a:lnTo>
                  <a:lnTo>
                    <a:pt x="5382342" y="1616"/>
                  </a:lnTo>
                  <a:lnTo>
                    <a:pt x="5397288" y="8507"/>
                  </a:lnTo>
                  <a:lnTo>
                    <a:pt x="5400044" y="10348"/>
                  </a:lnTo>
                  <a:lnTo>
                    <a:pt x="5402594" y="12441"/>
                  </a:lnTo>
                  <a:lnTo>
                    <a:pt x="5404938" y="14785"/>
                  </a:lnTo>
                  <a:lnTo>
                    <a:pt x="5407281" y="17128"/>
                  </a:lnTo>
                  <a:lnTo>
                    <a:pt x="5418753" y="40633"/>
                  </a:lnTo>
                  <a:lnTo>
                    <a:pt x="5419400" y="43884"/>
                  </a:lnTo>
                  <a:lnTo>
                    <a:pt x="5419724" y="47167"/>
                  </a:lnTo>
                  <a:lnTo>
                    <a:pt x="5419724" y="50482"/>
                  </a:lnTo>
                  <a:lnTo>
                    <a:pt x="5419724" y="1025842"/>
                  </a:lnTo>
                  <a:lnTo>
                    <a:pt x="5419724" y="1029156"/>
                  </a:lnTo>
                  <a:lnTo>
                    <a:pt x="5419400" y="1032439"/>
                  </a:lnTo>
                  <a:lnTo>
                    <a:pt x="5418753" y="1035691"/>
                  </a:lnTo>
                  <a:lnTo>
                    <a:pt x="5418107" y="1038941"/>
                  </a:lnTo>
                  <a:lnTo>
                    <a:pt x="5411215" y="1053887"/>
                  </a:lnTo>
                  <a:lnTo>
                    <a:pt x="5409374" y="1056644"/>
                  </a:lnTo>
                  <a:lnTo>
                    <a:pt x="5397288" y="1067815"/>
                  </a:lnTo>
                  <a:lnTo>
                    <a:pt x="5394531" y="1069657"/>
                  </a:lnTo>
                  <a:lnTo>
                    <a:pt x="5379090" y="1075354"/>
                  </a:lnTo>
                  <a:lnTo>
                    <a:pt x="5375839" y="1076001"/>
                  </a:lnTo>
                  <a:lnTo>
                    <a:pt x="5372556" y="1076324"/>
                  </a:lnTo>
                  <a:lnTo>
                    <a:pt x="5369242" y="1076324"/>
                  </a:lnTo>
                  <a:lnTo>
                    <a:pt x="50482" y="1076324"/>
                  </a:lnTo>
                  <a:lnTo>
                    <a:pt x="47167" y="1076324"/>
                  </a:lnTo>
                  <a:lnTo>
                    <a:pt x="43884" y="1076001"/>
                  </a:lnTo>
                  <a:lnTo>
                    <a:pt x="40633" y="1075354"/>
                  </a:lnTo>
                  <a:lnTo>
                    <a:pt x="37382" y="1074706"/>
                  </a:lnTo>
                  <a:lnTo>
                    <a:pt x="8507" y="1053887"/>
                  </a:lnTo>
                  <a:lnTo>
                    <a:pt x="6666" y="1051131"/>
                  </a:lnTo>
                  <a:lnTo>
                    <a:pt x="0" y="1029156"/>
                  </a:lnTo>
                  <a:lnTo>
                    <a:pt x="0" y="1025842"/>
                  </a:lnTo>
                  <a:close/>
                </a:path>
              </a:pathLst>
            </a:custGeom>
            <a:ln w="19049">
              <a:solidFill>
                <a:srgbClr val="99BF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7874" y="7974012"/>
            <a:ext cx="222821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latin typeface="Cambria"/>
                <a:cs typeface="Cambria"/>
              </a:rPr>
              <a:t>Server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latin typeface="Trebuchet MS"/>
                <a:cs typeface="Trebuchet MS"/>
              </a:rPr>
              <a:t>Local</a:t>
            </a:r>
            <a:r>
              <a:rPr sz="1350" spc="3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or</a:t>
            </a:r>
            <a:r>
              <a:rPr sz="1350" spc="3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cloud-</a:t>
            </a:r>
            <a:r>
              <a:rPr sz="1350" spc="50" dirty="0">
                <a:latin typeface="Trebuchet MS"/>
                <a:cs typeface="Trebuchet MS"/>
              </a:rPr>
              <a:t>based</a:t>
            </a:r>
            <a:r>
              <a:rPr sz="1350" spc="6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server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81787" y="1712272"/>
            <a:ext cx="4359508" cy="187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4A6981"/>
                </a:solidFill>
                <a:latin typeface="Cambria"/>
                <a:cs typeface="Cambria"/>
              </a:rPr>
              <a:t>Optional</a:t>
            </a:r>
            <a:r>
              <a:rPr sz="1650" b="1" spc="140" dirty="0">
                <a:solidFill>
                  <a:srgbClr val="4A6981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4A6981"/>
                </a:solidFill>
                <a:latin typeface="Cambria"/>
                <a:cs typeface="Cambria"/>
              </a:rPr>
              <a:t>Hospital</a:t>
            </a:r>
            <a:r>
              <a:rPr sz="1650" b="1" spc="145" dirty="0">
                <a:solidFill>
                  <a:srgbClr val="4A6981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4A6981"/>
                </a:solidFill>
                <a:latin typeface="Cambria"/>
                <a:cs typeface="Cambria"/>
              </a:rPr>
              <a:t>Infrastructure</a:t>
            </a:r>
            <a:endParaRPr sz="1650" dirty="0">
              <a:latin typeface="Cambria"/>
              <a:cs typeface="Cambria"/>
            </a:endParaRPr>
          </a:p>
          <a:p>
            <a:pPr marL="286385" marR="850900">
              <a:lnSpc>
                <a:spcPct val="162000"/>
              </a:lnSpc>
              <a:spcBef>
                <a:spcPts val="540"/>
              </a:spcBef>
            </a:pPr>
            <a:r>
              <a:rPr sz="1600" dirty="0">
                <a:solidFill>
                  <a:srgbClr val="6F655C"/>
                </a:solidFill>
                <a:latin typeface="Trebuchet MS"/>
                <a:cs typeface="Trebuchet MS"/>
              </a:rPr>
              <a:t>Administrator</a:t>
            </a:r>
            <a:r>
              <a:rPr sz="1600" spc="1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F655C"/>
                </a:solidFill>
                <a:latin typeface="Trebuchet MS"/>
                <a:cs typeface="Trebuchet MS"/>
              </a:rPr>
              <a:t>workstation </a:t>
            </a:r>
            <a:r>
              <a:rPr sz="1600" spc="65" dirty="0">
                <a:solidFill>
                  <a:srgbClr val="6F655C"/>
                </a:solidFill>
                <a:latin typeface="Trebuchet MS"/>
                <a:cs typeface="Trebuchet MS"/>
              </a:rPr>
              <a:t>Nursing</a:t>
            </a:r>
            <a:r>
              <a:rPr sz="160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6F655C"/>
                </a:solidFill>
                <a:latin typeface="Trebuchet MS"/>
                <a:cs typeface="Trebuchet MS"/>
              </a:rPr>
              <a:t>station</a:t>
            </a:r>
            <a:r>
              <a:rPr sz="1600" spc="-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F655C"/>
                </a:solidFill>
                <a:latin typeface="Trebuchet MS"/>
                <a:cs typeface="Trebuchet MS"/>
              </a:rPr>
              <a:t>computer </a:t>
            </a:r>
            <a:r>
              <a:rPr sz="1600" dirty="0">
                <a:solidFill>
                  <a:srgbClr val="6F655C"/>
                </a:solidFill>
                <a:latin typeface="Trebuchet MS"/>
                <a:cs typeface="Trebuchet MS"/>
              </a:rPr>
              <a:t>Dedicated</a:t>
            </a:r>
            <a:r>
              <a:rPr sz="1600" spc="1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F655C"/>
                </a:solidFill>
                <a:latin typeface="Trebuchet MS"/>
                <a:cs typeface="Trebuchet MS"/>
              </a:rPr>
              <a:t>server</a:t>
            </a:r>
            <a:r>
              <a:rPr sz="1600" spc="500" dirty="0">
                <a:solidFill>
                  <a:srgbClr val="6F655C"/>
                </a:solidFill>
                <a:latin typeface="Trebuchet MS"/>
                <a:cs typeface="Trebuchet MS"/>
              </a:rPr>
              <a:t>  </a:t>
            </a:r>
            <a:r>
              <a:rPr sz="1600" dirty="0">
                <a:solidFill>
                  <a:srgbClr val="6F655C"/>
                </a:solidFill>
                <a:latin typeface="Trebuchet MS"/>
                <a:cs typeface="Trebuchet MS"/>
              </a:rPr>
              <a:t>Network</a:t>
            </a:r>
            <a:r>
              <a:rPr sz="1600" spc="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6F655C"/>
                </a:solidFill>
                <a:latin typeface="Trebuchet MS"/>
                <a:cs typeface="Trebuchet MS"/>
              </a:rPr>
              <a:t>router</a:t>
            </a:r>
            <a:r>
              <a:rPr sz="1600" spc="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250" dirty="0">
                <a:solidFill>
                  <a:srgbClr val="6F655C"/>
                </a:solidFill>
                <a:latin typeface="Trebuchet MS"/>
                <a:cs typeface="Trebuchet MS"/>
              </a:rPr>
              <a:t>/</a:t>
            </a:r>
            <a:r>
              <a:rPr sz="1600" spc="2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F655C"/>
                </a:solidFill>
                <a:latin typeface="Trebuchet MS"/>
                <a:cs typeface="Trebuchet MS"/>
              </a:rPr>
              <a:t>switch </a:t>
            </a:r>
            <a:r>
              <a:rPr sz="1600" spc="60" dirty="0">
                <a:solidFill>
                  <a:srgbClr val="6F655C"/>
                </a:solidFill>
                <a:latin typeface="Trebuchet MS"/>
                <a:cs typeface="Trebuchet MS"/>
              </a:rPr>
              <a:t>Backup</a:t>
            </a:r>
            <a:r>
              <a:rPr sz="1600" spc="-7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6F655C"/>
                </a:solidFill>
                <a:latin typeface="Trebuchet MS"/>
                <a:cs typeface="Trebuchet MS"/>
              </a:rPr>
              <a:t>storage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4133850"/>
            <a:ext cx="2105024" cy="210502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4900" y="4133850"/>
            <a:ext cx="2105024" cy="210502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0" y="6381750"/>
            <a:ext cx="2105024" cy="210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Methodology</a:t>
            </a:r>
            <a:r>
              <a:rPr spc="-25" dirty="0"/>
              <a:t> </a:t>
            </a:r>
            <a:r>
              <a:rPr spc="-370" dirty="0"/>
              <a:t>—</a:t>
            </a:r>
            <a:r>
              <a:rPr spc="-40" dirty="0"/>
              <a:t> </a:t>
            </a:r>
            <a:r>
              <a:rPr spc="-70" dirty="0"/>
              <a:t>Workflow</a:t>
            </a:r>
            <a:r>
              <a:rPr spc="-15" dirty="0"/>
              <a:t> </a:t>
            </a:r>
            <a:r>
              <a:rPr spc="900" dirty="0"/>
              <a:t>P</a:t>
            </a:r>
            <a:r>
              <a:rPr spc="80" dirty="0"/>
              <a:t> </a:t>
            </a:r>
            <a:r>
              <a:rPr dirty="0"/>
              <a:t>Decision</a:t>
            </a:r>
            <a:r>
              <a:rPr spc="85" dirty="0"/>
              <a:t> </a:t>
            </a:r>
            <a:r>
              <a:rPr spc="50" dirty="0"/>
              <a:t>Logic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523999"/>
            <a:ext cx="9832847" cy="4059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8165" y="4895376"/>
            <a:ext cx="30930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85" dirty="0">
                <a:latin typeface="Cambria"/>
                <a:cs typeface="Cambria"/>
              </a:rPr>
              <a:t>OR</a:t>
            </a:r>
            <a:r>
              <a:rPr sz="1800" b="1" spc="6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Scheduling</a:t>
            </a:r>
            <a:r>
              <a:rPr sz="1800" b="1" spc="80" dirty="0">
                <a:latin typeface="Cambria"/>
                <a:cs typeface="Cambria"/>
              </a:rPr>
              <a:t> </a:t>
            </a:r>
            <a:r>
              <a:rPr sz="1800" b="1" spc="480" dirty="0">
                <a:latin typeface="Cambria"/>
                <a:cs typeface="Cambria"/>
              </a:rPr>
              <a:t>P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Monitoring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165" y="3882645"/>
            <a:ext cx="25165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dirty="0">
                <a:latin typeface="Cambria"/>
                <a:cs typeface="Cambria"/>
              </a:rPr>
              <a:t>Bed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Check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spc="480" dirty="0">
                <a:latin typeface="Cambria"/>
                <a:cs typeface="Cambria"/>
              </a:rPr>
              <a:t>P</a:t>
            </a:r>
            <a:r>
              <a:rPr sz="1800" b="1" spc="1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Allocation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165" y="2880144"/>
            <a:ext cx="22764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dirty="0">
                <a:latin typeface="Cambria"/>
                <a:cs typeface="Cambria"/>
              </a:rPr>
              <a:t>Admission</a:t>
            </a:r>
            <a:r>
              <a:rPr sz="1800" b="1" spc="35" dirty="0">
                <a:latin typeface="Cambria"/>
                <a:cs typeface="Cambria"/>
              </a:rPr>
              <a:t> </a:t>
            </a:r>
            <a:r>
              <a:rPr sz="1800" b="1" spc="480" dirty="0">
                <a:latin typeface="Cambria"/>
                <a:cs typeface="Cambria"/>
              </a:rPr>
              <a:t>P</a:t>
            </a:r>
            <a:r>
              <a:rPr sz="1800" b="1" spc="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Priority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8165" y="1867414"/>
            <a:ext cx="13239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latin typeface="Cambria"/>
                <a:cs typeface="Cambria"/>
              </a:rPr>
              <a:t>Registration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4" y="6657975"/>
            <a:ext cx="3312160" cy="2083435"/>
            <a:chOff x="600074" y="6657975"/>
            <a:chExt cx="3312160" cy="2083435"/>
          </a:xfrm>
        </p:grpSpPr>
        <p:sp>
          <p:nvSpPr>
            <p:cNvPr id="10" name="object 10"/>
            <p:cNvSpPr/>
            <p:nvPr/>
          </p:nvSpPr>
          <p:spPr>
            <a:xfrm>
              <a:off x="617206" y="6932907"/>
              <a:ext cx="3295015" cy="1808480"/>
            </a:xfrm>
            <a:custGeom>
              <a:avLst/>
              <a:gdLst/>
              <a:ahLst/>
              <a:cxnLst/>
              <a:rect l="l" t="t" r="r" b="b"/>
              <a:pathLst>
                <a:path w="3295015" h="1808479">
                  <a:moveTo>
                    <a:pt x="3283762" y="1782467"/>
                  </a:moveTo>
                  <a:lnTo>
                    <a:pt x="3225204" y="1782467"/>
                  </a:lnTo>
                  <a:lnTo>
                    <a:pt x="3231644" y="1781185"/>
                  </a:lnTo>
                  <a:lnTo>
                    <a:pt x="3244013" y="1776062"/>
                  </a:lnTo>
                  <a:lnTo>
                    <a:pt x="3267712" y="1745118"/>
                  </a:lnTo>
                  <a:lnTo>
                    <a:pt x="3268993" y="58443"/>
                  </a:lnTo>
                  <a:lnTo>
                    <a:pt x="3268676" y="51874"/>
                  </a:lnTo>
                  <a:lnTo>
                    <a:pt x="3253884" y="16165"/>
                  </a:lnTo>
                  <a:lnTo>
                    <a:pt x="3234365" y="0"/>
                  </a:lnTo>
                  <a:lnTo>
                    <a:pt x="3238164" y="755"/>
                  </a:lnTo>
                  <a:lnTo>
                    <a:pt x="3275810" y="24172"/>
                  </a:lnTo>
                  <a:lnTo>
                    <a:pt x="3294103" y="64557"/>
                  </a:lnTo>
                  <a:lnTo>
                    <a:pt x="3294591" y="69512"/>
                  </a:lnTo>
                  <a:lnTo>
                    <a:pt x="3294591" y="1751998"/>
                  </a:lnTo>
                  <a:lnTo>
                    <a:pt x="3286667" y="1778120"/>
                  </a:lnTo>
                  <a:lnTo>
                    <a:pt x="3283762" y="1782467"/>
                  </a:lnTo>
                  <a:close/>
                </a:path>
                <a:path w="3295015" h="1808479">
                  <a:moveTo>
                    <a:pt x="3238524" y="1808065"/>
                  </a:moveTo>
                  <a:lnTo>
                    <a:pt x="55009" y="1808065"/>
                  </a:lnTo>
                  <a:lnTo>
                    <a:pt x="51106" y="1807680"/>
                  </a:lnTo>
                  <a:lnTo>
                    <a:pt x="13731" y="1787702"/>
                  </a:lnTo>
                  <a:lnTo>
                    <a:pt x="94" y="1759764"/>
                  </a:lnTo>
                  <a:lnTo>
                    <a:pt x="0" y="1759286"/>
                  </a:lnTo>
                  <a:lnTo>
                    <a:pt x="36181" y="1782467"/>
                  </a:lnTo>
                  <a:lnTo>
                    <a:pt x="3283762" y="1782467"/>
                  </a:lnTo>
                  <a:lnTo>
                    <a:pt x="3282289" y="1784672"/>
                  </a:lnTo>
                  <a:lnTo>
                    <a:pt x="3250157" y="1806142"/>
                  </a:lnTo>
                  <a:lnTo>
                    <a:pt x="3242426" y="1807680"/>
                  </a:lnTo>
                  <a:lnTo>
                    <a:pt x="3238524" y="1808065"/>
                  </a:lnTo>
                  <a:close/>
                </a:path>
              </a:pathLst>
            </a:custGeom>
            <a:solidFill>
              <a:srgbClr val="E1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99" y="691514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9" y="1780543"/>
                  </a:lnTo>
                  <a:lnTo>
                    <a:pt x="0" y="1753056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7" y="15620"/>
                  </a:lnTo>
                  <a:lnTo>
                    <a:pt x="3273199" y="51660"/>
                  </a:lnTo>
                  <a:lnTo>
                    <a:pt x="3276599" y="71196"/>
                  </a:lnTo>
                  <a:lnTo>
                    <a:pt x="3276599" y="1753056"/>
                  </a:lnTo>
                  <a:lnTo>
                    <a:pt x="3259470" y="1787781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A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62" y="6896099"/>
              <a:ext cx="3295650" cy="1829435"/>
            </a:xfrm>
            <a:custGeom>
              <a:avLst/>
              <a:gdLst/>
              <a:ahLst/>
              <a:cxnLst/>
              <a:rect l="l" t="t" r="r" b="b"/>
              <a:pathLst>
                <a:path w="3295650" h="1829434">
                  <a:moveTo>
                    <a:pt x="3295650" y="56070"/>
                  </a:moveTo>
                  <a:lnTo>
                    <a:pt x="3280867" y="20370"/>
                  </a:lnTo>
                  <a:lnTo>
                    <a:pt x="3276600" y="16103"/>
                  </a:lnTo>
                  <a:lnTo>
                    <a:pt x="3276600" y="95262"/>
                  </a:lnTo>
                  <a:lnTo>
                    <a:pt x="3276600" y="1768805"/>
                  </a:lnTo>
                  <a:lnTo>
                    <a:pt x="3264090" y="1798193"/>
                  </a:lnTo>
                  <a:lnTo>
                    <a:pt x="3258299" y="1803006"/>
                  </a:lnTo>
                  <a:lnTo>
                    <a:pt x="3251377" y="1806752"/>
                  </a:lnTo>
                  <a:lnTo>
                    <a:pt x="3243821" y="1809000"/>
                  </a:lnTo>
                  <a:lnTo>
                    <a:pt x="3235642" y="1809762"/>
                  </a:lnTo>
                  <a:lnTo>
                    <a:pt x="60007" y="1809762"/>
                  </a:lnTo>
                  <a:lnTo>
                    <a:pt x="51841" y="1809000"/>
                  </a:lnTo>
                  <a:lnTo>
                    <a:pt x="44284" y="1806752"/>
                  </a:lnTo>
                  <a:lnTo>
                    <a:pt x="37363" y="1803006"/>
                  </a:lnTo>
                  <a:lnTo>
                    <a:pt x="31559" y="1798205"/>
                  </a:lnTo>
                  <a:lnTo>
                    <a:pt x="31051" y="1797761"/>
                  </a:lnTo>
                  <a:lnTo>
                    <a:pt x="25806" y="1791449"/>
                  </a:lnTo>
                  <a:lnTo>
                    <a:pt x="22059" y="1784527"/>
                  </a:lnTo>
                  <a:lnTo>
                    <a:pt x="19812" y="1776971"/>
                  </a:lnTo>
                  <a:lnTo>
                    <a:pt x="19050" y="1768805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3274720" y="76200"/>
                  </a:lnTo>
                  <a:lnTo>
                    <a:pt x="3275520" y="80391"/>
                  </a:lnTo>
                  <a:lnTo>
                    <a:pt x="3276333" y="87744"/>
                  </a:lnTo>
                  <a:lnTo>
                    <a:pt x="3276600" y="95262"/>
                  </a:lnTo>
                  <a:lnTo>
                    <a:pt x="3276600" y="16103"/>
                  </a:lnTo>
                  <a:lnTo>
                    <a:pt x="3239592" y="0"/>
                  </a:lnTo>
                  <a:lnTo>
                    <a:pt x="56070" y="0"/>
                  </a:lnTo>
                  <a:lnTo>
                    <a:pt x="20370" y="14795"/>
                  </a:lnTo>
                  <a:lnTo>
                    <a:pt x="393" y="52171"/>
                  </a:lnTo>
                  <a:lnTo>
                    <a:pt x="0" y="56070"/>
                  </a:lnTo>
                  <a:lnTo>
                    <a:pt x="0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776755"/>
                  </a:lnTo>
                  <a:lnTo>
                    <a:pt x="1524" y="1784413"/>
                  </a:lnTo>
                  <a:lnTo>
                    <a:pt x="7620" y="1799107"/>
                  </a:lnTo>
                  <a:lnTo>
                    <a:pt x="11950" y="1805609"/>
                  </a:lnTo>
                  <a:lnTo>
                    <a:pt x="17576" y="1811235"/>
                  </a:lnTo>
                  <a:lnTo>
                    <a:pt x="23202" y="1816862"/>
                  </a:lnTo>
                  <a:lnTo>
                    <a:pt x="29692" y="1821192"/>
                  </a:lnTo>
                  <a:lnTo>
                    <a:pt x="44399" y="1827288"/>
                  </a:lnTo>
                  <a:lnTo>
                    <a:pt x="52057" y="1828812"/>
                  </a:lnTo>
                  <a:lnTo>
                    <a:pt x="3243605" y="1828812"/>
                  </a:lnTo>
                  <a:lnTo>
                    <a:pt x="3251263" y="1827288"/>
                  </a:lnTo>
                  <a:lnTo>
                    <a:pt x="3265970" y="1821192"/>
                  </a:lnTo>
                  <a:lnTo>
                    <a:pt x="3272447" y="1816862"/>
                  </a:lnTo>
                  <a:lnTo>
                    <a:pt x="3277603" y="1811705"/>
                  </a:lnTo>
                  <a:lnTo>
                    <a:pt x="3278086" y="1811235"/>
                  </a:lnTo>
                  <a:lnTo>
                    <a:pt x="3295612" y="1776971"/>
                  </a:lnTo>
                  <a:lnTo>
                    <a:pt x="3295650" y="95262"/>
                  </a:lnTo>
                  <a:lnTo>
                    <a:pt x="3295294" y="87744"/>
                  </a:lnTo>
                  <a:lnTo>
                    <a:pt x="3294202" y="80391"/>
                  </a:lnTo>
                  <a:lnTo>
                    <a:pt x="3293148" y="76200"/>
                  </a:lnTo>
                  <a:lnTo>
                    <a:pt x="3295650" y="76200"/>
                  </a:lnTo>
                  <a:lnTo>
                    <a:pt x="3295650" y="56070"/>
                  </a:lnTo>
                  <a:close/>
                </a:path>
              </a:pathLst>
            </a:custGeom>
            <a:solidFill>
              <a:srgbClr val="E1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0724" y="66579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57174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F0DD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7874" y="7335837"/>
            <a:ext cx="289877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6F655C"/>
                </a:solidFill>
                <a:latin typeface="Cambria"/>
                <a:cs typeface="Cambria"/>
              </a:rPr>
              <a:t>Emergency</a:t>
            </a:r>
            <a:r>
              <a:rPr sz="1650" b="1" spc="155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Branch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Emergency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cases</a:t>
            </a:r>
            <a:r>
              <a:rPr sz="1350" spc="-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preempt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schedule</a:t>
            </a:r>
            <a:endParaRPr sz="1350">
              <a:latin typeface="Trebuchet MS"/>
              <a:cs typeface="Trebuchet MS"/>
            </a:endParaRPr>
          </a:p>
          <a:p>
            <a:pPr marL="12700" marR="13970">
              <a:lnSpc>
                <a:spcPct val="134300"/>
              </a:lnSpc>
            </a:pPr>
            <a:r>
              <a:rPr sz="1350" spc="509" dirty="0">
                <a:solidFill>
                  <a:srgbClr val="6F655C"/>
                </a:solidFill>
                <a:latin typeface="Trebuchet MS"/>
                <a:cs typeface="Trebuchet MS"/>
              </a:rPr>
              <a:t>—</a:t>
            </a:r>
            <a:r>
              <a:rPr sz="1350" spc="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instant</a:t>
            </a:r>
            <a:r>
              <a:rPr sz="1350" spc="6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priority</a:t>
            </a:r>
            <a:r>
              <a:rPr sz="1350" spc="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reassignment</a:t>
            </a:r>
            <a:r>
              <a:rPr sz="1350" spc="6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6F655C"/>
                </a:solidFill>
                <a:latin typeface="Trebuchet MS"/>
                <a:cs typeface="Trebuchet MS"/>
              </a:rPr>
              <a:t>and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rapid</a:t>
            </a:r>
            <a:r>
              <a:rPr sz="1350" spc="-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OR</a:t>
            </a:r>
            <a:r>
              <a:rPr sz="1350" spc="-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allocation.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67174" y="6657975"/>
            <a:ext cx="3312160" cy="2083435"/>
            <a:chOff x="4067174" y="6657975"/>
            <a:chExt cx="3312160" cy="2083435"/>
          </a:xfrm>
        </p:grpSpPr>
        <p:sp>
          <p:nvSpPr>
            <p:cNvPr id="16" name="object 16"/>
            <p:cNvSpPr/>
            <p:nvPr/>
          </p:nvSpPr>
          <p:spPr>
            <a:xfrm>
              <a:off x="4084305" y="6932907"/>
              <a:ext cx="3295015" cy="1808480"/>
            </a:xfrm>
            <a:custGeom>
              <a:avLst/>
              <a:gdLst/>
              <a:ahLst/>
              <a:cxnLst/>
              <a:rect l="l" t="t" r="r" b="b"/>
              <a:pathLst>
                <a:path w="3295015" h="1808479">
                  <a:moveTo>
                    <a:pt x="3283762" y="1782467"/>
                  </a:moveTo>
                  <a:lnTo>
                    <a:pt x="3225205" y="1782467"/>
                  </a:lnTo>
                  <a:lnTo>
                    <a:pt x="3231644" y="1781185"/>
                  </a:lnTo>
                  <a:lnTo>
                    <a:pt x="3244013" y="1776062"/>
                  </a:lnTo>
                  <a:lnTo>
                    <a:pt x="3267713" y="1745118"/>
                  </a:lnTo>
                  <a:lnTo>
                    <a:pt x="3268994" y="58443"/>
                  </a:lnTo>
                  <a:lnTo>
                    <a:pt x="3268676" y="51874"/>
                  </a:lnTo>
                  <a:lnTo>
                    <a:pt x="3253885" y="16165"/>
                  </a:lnTo>
                  <a:lnTo>
                    <a:pt x="3234366" y="0"/>
                  </a:lnTo>
                  <a:lnTo>
                    <a:pt x="3238165" y="755"/>
                  </a:lnTo>
                  <a:lnTo>
                    <a:pt x="3275811" y="24172"/>
                  </a:lnTo>
                  <a:lnTo>
                    <a:pt x="3294104" y="64556"/>
                  </a:lnTo>
                  <a:lnTo>
                    <a:pt x="3294591" y="69512"/>
                  </a:lnTo>
                  <a:lnTo>
                    <a:pt x="3294591" y="1751998"/>
                  </a:lnTo>
                  <a:lnTo>
                    <a:pt x="3286667" y="1778120"/>
                  </a:lnTo>
                  <a:lnTo>
                    <a:pt x="3283762" y="1782467"/>
                  </a:lnTo>
                  <a:close/>
                </a:path>
                <a:path w="3295015" h="1808479">
                  <a:moveTo>
                    <a:pt x="3238524" y="1808065"/>
                  </a:moveTo>
                  <a:lnTo>
                    <a:pt x="55009" y="1808065"/>
                  </a:lnTo>
                  <a:lnTo>
                    <a:pt x="51107" y="1807680"/>
                  </a:lnTo>
                  <a:lnTo>
                    <a:pt x="13732" y="1787702"/>
                  </a:lnTo>
                  <a:lnTo>
                    <a:pt x="95" y="1759764"/>
                  </a:lnTo>
                  <a:lnTo>
                    <a:pt x="0" y="1759285"/>
                  </a:lnTo>
                  <a:lnTo>
                    <a:pt x="36182" y="1782467"/>
                  </a:lnTo>
                  <a:lnTo>
                    <a:pt x="3283762" y="1782467"/>
                  </a:lnTo>
                  <a:lnTo>
                    <a:pt x="3282289" y="1784672"/>
                  </a:lnTo>
                  <a:lnTo>
                    <a:pt x="3250157" y="1806142"/>
                  </a:lnTo>
                  <a:lnTo>
                    <a:pt x="3242426" y="1807680"/>
                  </a:lnTo>
                  <a:lnTo>
                    <a:pt x="3238524" y="1808065"/>
                  </a:lnTo>
                  <a:close/>
                </a:path>
              </a:pathLst>
            </a:custGeom>
            <a:solidFill>
              <a:srgbClr val="CCC3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699" y="691514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9" y="1780543"/>
                  </a:lnTo>
                  <a:lnTo>
                    <a:pt x="0" y="1753056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6" y="15620"/>
                  </a:lnTo>
                  <a:lnTo>
                    <a:pt x="3273200" y="51660"/>
                  </a:lnTo>
                  <a:lnTo>
                    <a:pt x="3276600" y="71196"/>
                  </a:lnTo>
                  <a:lnTo>
                    <a:pt x="3276600" y="1753056"/>
                  </a:lnTo>
                  <a:lnTo>
                    <a:pt x="3259469" y="1787781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A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67162" y="6896099"/>
              <a:ext cx="3295650" cy="1829435"/>
            </a:xfrm>
            <a:custGeom>
              <a:avLst/>
              <a:gdLst/>
              <a:ahLst/>
              <a:cxnLst/>
              <a:rect l="l" t="t" r="r" b="b"/>
              <a:pathLst>
                <a:path w="3295650" h="1829434">
                  <a:moveTo>
                    <a:pt x="3295650" y="56070"/>
                  </a:moveTo>
                  <a:lnTo>
                    <a:pt x="3280867" y="20370"/>
                  </a:lnTo>
                  <a:lnTo>
                    <a:pt x="3276600" y="16103"/>
                  </a:lnTo>
                  <a:lnTo>
                    <a:pt x="3276600" y="95262"/>
                  </a:lnTo>
                  <a:lnTo>
                    <a:pt x="3276600" y="1768805"/>
                  </a:lnTo>
                  <a:lnTo>
                    <a:pt x="3264090" y="1798193"/>
                  </a:lnTo>
                  <a:lnTo>
                    <a:pt x="3258299" y="1803006"/>
                  </a:lnTo>
                  <a:lnTo>
                    <a:pt x="3251377" y="1806752"/>
                  </a:lnTo>
                  <a:lnTo>
                    <a:pt x="3243821" y="1809000"/>
                  </a:lnTo>
                  <a:lnTo>
                    <a:pt x="3235642" y="1809762"/>
                  </a:lnTo>
                  <a:lnTo>
                    <a:pt x="60007" y="1809762"/>
                  </a:lnTo>
                  <a:lnTo>
                    <a:pt x="51841" y="1809000"/>
                  </a:lnTo>
                  <a:lnTo>
                    <a:pt x="44284" y="1806752"/>
                  </a:lnTo>
                  <a:lnTo>
                    <a:pt x="37363" y="1803006"/>
                  </a:lnTo>
                  <a:lnTo>
                    <a:pt x="31559" y="1798205"/>
                  </a:lnTo>
                  <a:lnTo>
                    <a:pt x="31051" y="1797761"/>
                  </a:lnTo>
                  <a:lnTo>
                    <a:pt x="25806" y="1791449"/>
                  </a:lnTo>
                  <a:lnTo>
                    <a:pt x="22059" y="1784527"/>
                  </a:lnTo>
                  <a:lnTo>
                    <a:pt x="19812" y="1776971"/>
                  </a:lnTo>
                  <a:lnTo>
                    <a:pt x="19050" y="1768805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3274720" y="76200"/>
                  </a:lnTo>
                  <a:lnTo>
                    <a:pt x="3275520" y="80391"/>
                  </a:lnTo>
                  <a:lnTo>
                    <a:pt x="3276333" y="87744"/>
                  </a:lnTo>
                  <a:lnTo>
                    <a:pt x="3276600" y="95262"/>
                  </a:lnTo>
                  <a:lnTo>
                    <a:pt x="3276600" y="16103"/>
                  </a:lnTo>
                  <a:lnTo>
                    <a:pt x="3239592" y="0"/>
                  </a:lnTo>
                  <a:lnTo>
                    <a:pt x="56070" y="0"/>
                  </a:lnTo>
                  <a:lnTo>
                    <a:pt x="20370" y="14795"/>
                  </a:lnTo>
                  <a:lnTo>
                    <a:pt x="393" y="52171"/>
                  </a:lnTo>
                  <a:lnTo>
                    <a:pt x="0" y="56070"/>
                  </a:lnTo>
                  <a:lnTo>
                    <a:pt x="0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776755"/>
                  </a:lnTo>
                  <a:lnTo>
                    <a:pt x="1524" y="1784413"/>
                  </a:lnTo>
                  <a:lnTo>
                    <a:pt x="7620" y="1799107"/>
                  </a:lnTo>
                  <a:lnTo>
                    <a:pt x="11950" y="1805609"/>
                  </a:lnTo>
                  <a:lnTo>
                    <a:pt x="17576" y="1811235"/>
                  </a:lnTo>
                  <a:lnTo>
                    <a:pt x="23202" y="1816862"/>
                  </a:lnTo>
                  <a:lnTo>
                    <a:pt x="29692" y="1821192"/>
                  </a:lnTo>
                  <a:lnTo>
                    <a:pt x="44399" y="1827288"/>
                  </a:lnTo>
                  <a:lnTo>
                    <a:pt x="52057" y="1828812"/>
                  </a:lnTo>
                  <a:lnTo>
                    <a:pt x="3243605" y="1828812"/>
                  </a:lnTo>
                  <a:lnTo>
                    <a:pt x="3251263" y="1827288"/>
                  </a:lnTo>
                  <a:lnTo>
                    <a:pt x="3265957" y="1821192"/>
                  </a:lnTo>
                  <a:lnTo>
                    <a:pt x="3272447" y="1816862"/>
                  </a:lnTo>
                  <a:lnTo>
                    <a:pt x="3277603" y="1811705"/>
                  </a:lnTo>
                  <a:lnTo>
                    <a:pt x="3278086" y="1811235"/>
                  </a:lnTo>
                  <a:lnTo>
                    <a:pt x="3295612" y="1776971"/>
                  </a:lnTo>
                  <a:lnTo>
                    <a:pt x="3295650" y="95262"/>
                  </a:lnTo>
                  <a:lnTo>
                    <a:pt x="3295294" y="87744"/>
                  </a:lnTo>
                  <a:lnTo>
                    <a:pt x="3294202" y="80391"/>
                  </a:lnTo>
                  <a:lnTo>
                    <a:pt x="3293148" y="76200"/>
                  </a:lnTo>
                  <a:lnTo>
                    <a:pt x="3295650" y="76200"/>
                  </a:lnTo>
                  <a:lnTo>
                    <a:pt x="3295650" y="56070"/>
                  </a:lnTo>
                  <a:close/>
                </a:path>
              </a:pathLst>
            </a:custGeom>
            <a:solidFill>
              <a:srgbClr val="CCC3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57824" y="66579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57174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E5DE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44975" y="7335837"/>
            <a:ext cx="274193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6F655C"/>
                </a:solidFill>
                <a:latin typeface="Cambria"/>
                <a:cs typeface="Cambria"/>
              </a:rPr>
              <a:t>Real-Time</a:t>
            </a:r>
            <a:r>
              <a:rPr sz="1650" b="1" spc="340" dirty="0">
                <a:solidFill>
                  <a:srgbClr val="6F655C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Updates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Live</a:t>
            </a:r>
            <a:r>
              <a:rPr sz="1350" spc="-4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occupancy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and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 schedule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updates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6F655C"/>
                </a:solidFill>
                <a:latin typeface="Trebuchet MS"/>
                <a:cs typeface="Trebuchet MS"/>
              </a:rPr>
              <a:t>push</a:t>
            </a:r>
            <a:r>
              <a:rPr sz="1350" spc="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notifications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to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staff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and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admins.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34274" y="6657975"/>
            <a:ext cx="3312160" cy="2083435"/>
            <a:chOff x="7534274" y="6657975"/>
            <a:chExt cx="3312160" cy="2083435"/>
          </a:xfrm>
        </p:grpSpPr>
        <p:sp>
          <p:nvSpPr>
            <p:cNvPr id="22" name="object 22"/>
            <p:cNvSpPr/>
            <p:nvPr/>
          </p:nvSpPr>
          <p:spPr>
            <a:xfrm>
              <a:off x="7551406" y="6932906"/>
              <a:ext cx="3295015" cy="1808480"/>
            </a:xfrm>
            <a:custGeom>
              <a:avLst/>
              <a:gdLst/>
              <a:ahLst/>
              <a:cxnLst/>
              <a:rect l="l" t="t" r="r" b="b"/>
              <a:pathLst>
                <a:path w="3295015" h="1808479">
                  <a:moveTo>
                    <a:pt x="3283761" y="1782467"/>
                  </a:moveTo>
                  <a:lnTo>
                    <a:pt x="3225204" y="1782467"/>
                  </a:lnTo>
                  <a:lnTo>
                    <a:pt x="3231643" y="1781186"/>
                  </a:lnTo>
                  <a:lnTo>
                    <a:pt x="3244012" y="1776062"/>
                  </a:lnTo>
                  <a:lnTo>
                    <a:pt x="3267711" y="1745119"/>
                  </a:lnTo>
                  <a:lnTo>
                    <a:pt x="3268993" y="58443"/>
                  </a:lnTo>
                  <a:lnTo>
                    <a:pt x="3268675" y="51874"/>
                  </a:lnTo>
                  <a:lnTo>
                    <a:pt x="3253883" y="16165"/>
                  </a:lnTo>
                  <a:lnTo>
                    <a:pt x="3234363" y="0"/>
                  </a:lnTo>
                  <a:lnTo>
                    <a:pt x="3238164" y="755"/>
                  </a:lnTo>
                  <a:lnTo>
                    <a:pt x="3275810" y="24172"/>
                  </a:lnTo>
                  <a:lnTo>
                    <a:pt x="3294102" y="64557"/>
                  </a:lnTo>
                  <a:lnTo>
                    <a:pt x="3294591" y="69512"/>
                  </a:lnTo>
                  <a:lnTo>
                    <a:pt x="3294591" y="1751998"/>
                  </a:lnTo>
                  <a:lnTo>
                    <a:pt x="3286666" y="1778120"/>
                  </a:lnTo>
                  <a:lnTo>
                    <a:pt x="3283761" y="1782467"/>
                  </a:lnTo>
                  <a:close/>
                </a:path>
                <a:path w="3295015" h="1808479">
                  <a:moveTo>
                    <a:pt x="3238523" y="1808065"/>
                  </a:moveTo>
                  <a:lnTo>
                    <a:pt x="55008" y="1808065"/>
                  </a:lnTo>
                  <a:lnTo>
                    <a:pt x="51106" y="1807680"/>
                  </a:lnTo>
                  <a:lnTo>
                    <a:pt x="13730" y="1787703"/>
                  </a:lnTo>
                  <a:lnTo>
                    <a:pt x="94" y="1759764"/>
                  </a:lnTo>
                  <a:lnTo>
                    <a:pt x="0" y="1759287"/>
                  </a:lnTo>
                  <a:lnTo>
                    <a:pt x="36181" y="1782467"/>
                  </a:lnTo>
                  <a:lnTo>
                    <a:pt x="3283761" y="1782467"/>
                  </a:lnTo>
                  <a:lnTo>
                    <a:pt x="3282287" y="1784672"/>
                  </a:lnTo>
                  <a:lnTo>
                    <a:pt x="3250154" y="1806142"/>
                  </a:lnTo>
                  <a:lnTo>
                    <a:pt x="3242424" y="1807680"/>
                  </a:lnTo>
                  <a:lnTo>
                    <a:pt x="3238523" y="1808065"/>
                  </a:lnTo>
                  <a:close/>
                </a:path>
              </a:pathLst>
            </a:custGeom>
            <a:solidFill>
              <a:srgbClr val="B4D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43799" y="6915149"/>
              <a:ext cx="3276600" cy="1800225"/>
            </a:xfrm>
            <a:custGeom>
              <a:avLst/>
              <a:gdLst/>
              <a:ahLst/>
              <a:cxnLst/>
              <a:rect l="l" t="t" r="r" b="b"/>
              <a:pathLst>
                <a:path w="3276600" h="1800225">
                  <a:moveTo>
                    <a:pt x="3229431" y="1800224"/>
                  </a:moveTo>
                  <a:lnTo>
                    <a:pt x="47167" y="1800224"/>
                  </a:lnTo>
                  <a:lnTo>
                    <a:pt x="43884" y="1799901"/>
                  </a:lnTo>
                  <a:lnTo>
                    <a:pt x="10348" y="1780543"/>
                  </a:lnTo>
                  <a:lnTo>
                    <a:pt x="0" y="1753056"/>
                  </a:lnTo>
                  <a:lnTo>
                    <a:pt x="0" y="1749742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7" y="15620"/>
                  </a:lnTo>
                  <a:lnTo>
                    <a:pt x="3273198" y="51660"/>
                  </a:lnTo>
                  <a:lnTo>
                    <a:pt x="3276598" y="71196"/>
                  </a:lnTo>
                  <a:lnTo>
                    <a:pt x="3276598" y="1753056"/>
                  </a:lnTo>
                  <a:lnTo>
                    <a:pt x="3259470" y="1787781"/>
                  </a:lnTo>
                  <a:lnTo>
                    <a:pt x="3232714" y="1799901"/>
                  </a:lnTo>
                  <a:lnTo>
                    <a:pt x="3229431" y="1800224"/>
                  </a:lnTo>
                  <a:close/>
                </a:path>
              </a:pathLst>
            </a:custGeom>
            <a:solidFill>
              <a:srgbClr val="FFFA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34262" y="6896099"/>
              <a:ext cx="3295650" cy="1829435"/>
            </a:xfrm>
            <a:custGeom>
              <a:avLst/>
              <a:gdLst/>
              <a:ahLst/>
              <a:cxnLst/>
              <a:rect l="l" t="t" r="r" b="b"/>
              <a:pathLst>
                <a:path w="3295650" h="1829434">
                  <a:moveTo>
                    <a:pt x="3295650" y="56070"/>
                  </a:moveTo>
                  <a:lnTo>
                    <a:pt x="3280867" y="20370"/>
                  </a:lnTo>
                  <a:lnTo>
                    <a:pt x="3276600" y="16103"/>
                  </a:lnTo>
                  <a:lnTo>
                    <a:pt x="3276600" y="95262"/>
                  </a:lnTo>
                  <a:lnTo>
                    <a:pt x="3276600" y="1768805"/>
                  </a:lnTo>
                  <a:lnTo>
                    <a:pt x="3264090" y="1798193"/>
                  </a:lnTo>
                  <a:lnTo>
                    <a:pt x="3258299" y="1803006"/>
                  </a:lnTo>
                  <a:lnTo>
                    <a:pt x="3251365" y="1806752"/>
                  </a:lnTo>
                  <a:lnTo>
                    <a:pt x="3243821" y="1809000"/>
                  </a:lnTo>
                  <a:lnTo>
                    <a:pt x="3235642" y="1809762"/>
                  </a:lnTo>
                  <a:lnTo>
                    <a:pt x="60007" y="1809762"/>
                  </a:lnTo>
                  <a:lnTo>
                    <a:pt x="51841" y="1809000"/>
                  </a:lnTo>
                  <a:lnTo>
                    <a:pt x="44284" y="1806752"/>
                  </a:lnTo>
                  <a:lnTo>
                    <a:pt x="37363" y="1803006"/>
                  </a:lnTo>
                  <a:lnTo>
                    <a:pt x="31559" y="1798205"/>
                  </a:lnTo>
                  <a:lnTo>
                    <a:pt x="31051" y="1797761"/>
                  </a:lnTo>
                  <a:lnTo>
                    <a:pt x="25806" y="1791449"/>
                  </a:lnTo>
                  <a:lnTo>
                    <a:pt x="22059" y="1784527"/>
                  </a:lnTo>
                  <a:lnTo>
                    <a:pt x="19799" y="1776971"/>
                  </a:lnTo>
                  <a:lnTo>
                    <a:pt x="19050" y="1768805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3274720" y="76200"/>
                  </a:lnTo>
                  <a:lnTo>
                    <a:pt x="3275520" y="80391"/>
                  </a:lnTo>
                  <a:lnTo>
                    <a:pt x="3276333" y="87744"/>
                  </a:lnTo>
                  <a:lnTo>
                    <a:pt x="3276600" y="95262"/>
                  </a:lnTo>
                  <a:lnTo>
                    <a:pt x="3276600" y="16103"/>
                  </a:lnTo>
                  <a:lnTo>
                    <a:pt x="3239592" y="0"/>
                  </a:lnTo>
                  <a:lnTo>
                    <a:pt x="56070" y="0"/>
                  </a:lnTo>
                  <a:lnTo>
                    <a:pt x="20370" y="14795"/>
                  </a:lnTo>
                  <a:lnTo>
                    <a:pt x="393" y="52171"/>
                  </a:lnTo>
                  <a:lnTo>
                    <a:pt x="0" y="56070"/>
                  </a:lnTo>
                  <a:lnTo>
                    <a:pt x="0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776755"/>
                  </a:lnTo>
                  <a:lnTo>
                    <a:pt x="1524" y="1784413"/>
                  </a:lnTo>
                  <a:lnTo>
                    <a:pt x="7620" y="1799107"/>
                  </a:lnTo>
                  <a:lnTo>
                    <a:pt x="11950" y="1805609"/>
                  </a:lnTo>
                  <a:lnTo>
                    <a:pt x="17805" y="1811464"/>
                  </a:lnTo>
                  <a:lnTo>
                    <a:pt x="23202" y="1816862"/>
                  </a:lnTo>
                  <a:lnTo>
                    <a:pt x="29692" y="1821192"/>
                  </a:lnTo>
                  <a:lnTo>
                    <a:pt x="44399" y="1827288"/>
                  </a:lnTo>
                  <a:lnTo>
                    <a:pt x="52057" y="1828812"/>
                  </a:lnTo>
                  <a:lnTo>
                    <a:pt x="3243605" y="1828812"/>
                  </a:lnTo>
                  <a:lnTo>
                    <a:pt x="3251263" y="1827288"/>
                  </a:lnTo>
                  <a:lnTo>
                    <a:pt x="3265957" y="1821192"/>
                  </a:lnTo>
                  <a:lnTo>
                    <a:pt x="3272447" y="1816862"/>
                  </a:lnTo>
                  <a:lnTo>
                    <a:pt x="3277603" y="1811705"/>
                  </a:lnTo>
                  <a:lnTo>
                    <a:pt x="3278073" y="1811235"/>
                  </a:lnTo>
                  <a:lnTo>
                    <a:pt x="3295612" y="1776971"/>
                  </a:lnTo>
                  <a:lnTo>
                    <a:pt x="3295650" y="95262"/>
                  </a:lnTo>
                  <a:lnTo>
                    <a:pt x="3295294" y="87744"/>
                  </a:lnTo>
                  <a:lnTo>
                    <a:pt x="3294202" y="80391"/>
                  </a:lnTo>
                  <a:lnTo>
                    <a:pt x="3293148" y="76200"/>
                  </a:lnTo>
                  <a:lnTo>
                    <a:pt x="3295650" y="76200"/>
                  </a:lnTo>
                  <a:lnTo>
                    <a:pt x="3295650" y="56070"/>
                  </a:lnTo>
                  <a:close/>
                </a:path>
              </a:pathLst>
            </a:custGeom>
            <a:solidFill>
              <a:srgbClr val="B4D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24924" y="66579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40" y="16353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40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57174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D9E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7374" y="5850890"/>
            <a:ext cx="10212705" cy="12039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Major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decision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factors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alongside</a:t>
            </a:r>
            <a:r>
              <a:rPr sz="1350" spc="-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workflow:</a:t>
            </a:r>
            <a:r>
              <a:rPr sz="1350" spc="-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Patient</a:t>
            </a:r>
            <a:r>
              <a:rPr sz="1350" spc="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Priority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Bed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Availability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95" dirty="0">
                <a:solidFill>
                  <a:srgbClr val="6F655C"/>
                </a:solidFill>
                <a:latin typeface="Trebuchet MS"/>
                <a:cs typeface="Trebuchet MS"/>
              </a:rPr>
              <a:t>OR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Availability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spc="-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6F655C"/>
                </a:solidFill>
                <a:latin typeface="Trebuchet MS"/>
                <a:cs typeface="Trebuchet MS"/>
              </a:rPr>
              <a:t>Surgery</a:t>
            </a:r>
            <a:r>
              <a:rPr sz="1350" spc="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Duration</a:t>
            </a:r>
            <a:r>
              <a:rPr sz="1350" spc="1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spc="-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Staff</a:t>
            </a:r>
            <a:r>
              <a:rPr sz="1350" spc="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Availability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spc="-8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Emergency</a:t>
            </a:r>
            <a:r>
              <a:rPr sz="1350" spc="-7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6F655C"/>
                </a:solidFill>
                <a:latin typeface="Trebuchet MS"/>
                <a:cs typeface="Trebuchet MS"/>
              </a:rPr>
              <a:t>Cases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350">
              <a:latin typeface="Trebuchet MS"/>
              <a:cs typeface="Trebuchet MS"/>
            </a:endParaRPr>
          </a:p>
          <a:p>
            <a:pPr marL="1621155">
              <a:lnSpc>
                <a:spcPct val="100000"/>
              </a:lnSpc>
              <a:tabLst>
                <a:tab pos="5074920" algn="l"/>
                <a:tab pos="8545195" algn="l"/>
              </a:tabLst>
            </a:pPr>
            <a:r>
              <a:rPr sz="1600" b="1" spc="-395" dirty="0">
                <a:latin typeface="Cambria"/>
                <a:cs typeface="Cambria"/>
              </a:rPr>
              <a:t>1</a:t>
            </a:r>
            <a:r>
              <a:rPr sz="1600" b="1" dirty="0">
                <a:latin typeface="Cambria"/>
                <a:cs typeface="Cambria"/>
              </a:rPr>
              <a:t>	</a:t>
            </a:r>
            <a:r>
              <a:rPr sz="1600" b="1" spc="-50" dirty="0">
                <a:latin typeface="Cambria"/>
                <a:cs typeface="Cambria"/>
              </a:rPr>
              <a:t>2</a:t>
            </a:r>
            <a:r>
              <a:rPr sz="1600" b="1" dirty="0">
                <a:latin typeface="Cambria"/>
                <a:cs typeface="Cambria"/>
              </a:rPr>
              <a:t>	</a:t>
            </a:r>
            <a:r>
              <a:rPr sz="1600" b="1" spc="-50" dirty="0"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12075" y="7335837"/>
            <a:ext cx="286321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6F655C"/>
                </a:solidFill>
                <a:latin typeface="Cambria"/>
                <a:cs typeface="Cambria"/>
              </a:rPr>
              <a:t>Outcome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Optimized</a:t>
            </a:r>
            <a:r>
              <a:rPr sz="1350" spc="-5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F655C"/>
                </a:solidFill>
                <a:latin typeface="Trebuchet MS"/>
                <a:cs typeface="Trebuchet MS"/>
              </a:rPr>
              <a:t>resources</a:t>
            </a:r>
            <a:r>
              <a:rPr sz="1350" spc="-6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spc="-65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35" dirty="0">
                <a:solidFill>
                  <a:srgbClr val="6F655C"/>
                </a:solidFill>
                <a:latin typeface="Trebuchet MS"/>
                <a:cs typeface="Trebuchet MS"/>
              </a:rPr>
              <a:t>Reduced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waiting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time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195" dirty="0">
                <a:solidFill>
                  <a:srgbClr val="6F655C"/>
                </a:solidFill>
                <a:latin typeface="Trebuchet MS"/>
                <a:cs typeface="Trebuchet MS"/>
              </a:rPr>
              <a:t>·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F655C"/>
                </a:solidFill>
                <a:latin typeface="Trebuchet MS"/>
                <a:cs typeface="Trebuchet MS"/>
              </a:rPr>
              <a:t>Improved</a:t>
            </a: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 patient</a:t>
            </a:r>
            <a:r>
              <a:rPr sz="1350" spc="-30" dirty="0">
                <a:solidFill>
                  <a:srgbClr val="6F655C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6F655C"/>
                </a:solidFill>
                <a:latin typeface="Trebuchet MS"/>
                <a:cs typeface="Trebuchet MS"/>
              </a:rPr>
              <a:t>care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482600"/>
            <a:ext cx="3510279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Literature</a:t>
            </a:r>
            <a:r>
              <a:rPr spc="-185" dirty="0"/>
              <a:t> </a:t>
            </a:r>
            <a:r>
              <a:rPr spc="-25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352549"/>
            <a:ext cx="10229850" cy="5257800"/>
            <a:chOff x="600074" y="1352549"/>
            <a:chExt cx="10229850" cy="5257800"/>
          </a:xfrm>
        </p:grpSpPr>
        <p:sp>
          <p:nvSpPr>
            <p:cNvPr id="5" name="object 5"/>
            <p:cNvSpPr/>
            <p:nvPr/>
          </p:nvSpPr>
          <p:spPr>
            <a:xfrm>
              <a:off x="604837" y="1357312"/>
              <a:ext cx="10220325" cy="5248275"/>
            </a:xfrm>
            <a:custGeom>
              <a:avLst/>
              <a:gdLst/>
              <a:ahLst/>
              <a:cxnLst/>
              <a:rect l="l" t="t" r="r" b="b"/>
              <a:pathLst>
                <a:path w="10220325" h="5248275">
                  <a:moveTo>
                    <a:pt x="0" y="5193029"/>
                  </a:moveTo>
                  <a:lnTo>
                    <a:pt x="0" y="55245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2" y="5593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5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10165078" y="0"/>
                  </a:lnTo>
                  <a:lnTo>
                    <a:pt x="10168705" y="0"/>
                  </a:lnTo>
                  <a:lnTo>
                    <a:pt x="10172298" y="353"/>
                  </a:lnTo>
                  <a:lnTo>
                    <a:pt x="10175856" y="1061"/>
                  </a:lnTo>
                  <a:lnTo>
                    <a:pt x="10179413" y="1769"/>
                  </a:lnTo>
                  <a:lnTo>
                    <a:pt x="10182868" y="2816"/>
                  </a:lnTo>
                  <a:lnTo>
                    <a:pt x="10186219" y="4205"/>
                  </a:lnTo>
                  <a:lnTo>
                    <a:pt x="10189571" y="5593"/>
                  </a:lnTo>
                  <a:lnTo>
                    <a:pt x="10192754" y="7294"/>
                  </a:lnTo>
                  <a:lnTo>
                    <a:pt x="10195769" y="9310"/>
                  </a:lnTo>
                  <a:lnTo>
                    <a:pt x="10198787" y="11325"/>
                  </a:lnTo>
                  <a:lnTo>
                    <a:pt x="10211012" y="24552"/>
                  </a:lnTo>
                  <a:lnTo>
                    <a:pt x="10213027" y="27568"/>
                  </a:lnTo>
                  <a:lnTo>
                    <a:pt x="10219261" y="44467"/>
                  </a:lnTo>
                  <a:lnTo>
                    <a:pt x="10219969" y="48024"/>
                  </a:lnTo>
                  <a:lnTo>
                    <a:pt x="10220323" y="51617"/>
                  </a:lnTo>
                  <a:lnTo>
                    <a:pt x="10220324" y="55245"/>
                  </a:lnTo>
                  <a:lnTo>
                    <a:pt x="10220324" y="5193029"/>
                  </a:lnTo>
                  <a:lnTo>
                    <a:pt x="10220323" y="5196656"/>
                  </a:lnTo>
                  <a:lnTo>
                    <a:pt x="10219969" y="5200249"/>
                  </a:lnTo>
                  <a:lnTo>
                    <a:pt x="10219261" y="5203806"/>
                  </a:lnTo>
                  <a:lnTo>
                    <a:pt x="10218553" y="5207364"/>
                  </a:lnTo>
                  <a:lnTo>
                    <a:pt x="10195769" y="5238963"/>
                  </a:lnTo>
                  <a:lnTo>
                    <a:pt x="10192754" y="5240979"/>
                  </a:lnTo>
                  <a:lnTo>
                    <a:pt x="10168705" y="5248274"/>
                  </a:lnTo>
                  <a:lnTo>
                    <a:pt x="10165078" y="5248274"/>
                  </a:lnTo>
                  <a:lnTo>
                    <a:pt x="55245" y="5248274"/>
                  </a:lnTo>
                  <a:lnTo>
                    <a:pt x="51617" y="5248274"/>
                  </a:lnTo>
                  <a:lnTo>
                    <a:pt x="48025" y="5247920"/>
                  </a:lnTo>
                  <a:lnTo>
                    <a:pt x="24552" y="5238963"/>
                  </a:lnTo>
                  <a:lnTo>
                    <a:pt x="21536" y="5236947"/>
                  </a:lnTo>
                  <a:lnTo>
                    <a:pt x="4205" y="5214170"/>
                  </a:lnTo>
                  <a:lnTo>
                    <a:pt x="2817" y="5210819"/>
                  </a:lnTo>
                  <a:lnTo>
                    <a:pt x="1769" y="5207364"/>
                  </a:lnTo>
                  <a:lnTo>
                    <a:pt x="1061" y="5203806"/>
                  </a:lnTo>
                  <a:lnTo>
                    <a:pt x="353" y="5200249"/>
                  </a:lnTo>
                  <a:lnTo>
                    <a:pt x="0" y="5196656"/>
                  </a:lnTo>
                  <a:lnTo>
                    <a:pt x="0" y="51930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87" y="1362087"/>
              <a:ext cx="10210800" cy="5238750"/>
            </a:xfrm>
            <a:custGeom>
              <a:avLst/>
              <a:gdLst/>
              <a:ahLst/>
              <a:cxnLst/>
              <a:rect l="l" t="t" r="r" b="b"/>
              <a:pathLst>
                <a:path w="10210800" h="5238750">
                  <a:moveTo>
                    <a:pt x="3057525" y="3914775"/>
                  </a:moveTo>
                  <a:lnTo>
                    <a:pt x="0" y="3914775"/>
                  </a:lnTo>
                  <a:lnTo>
                    <a:pt x="0" y="5186692"/>
                  </a:lnTo>
                  <a:lnTo>
                    <a:pt x="23202" y="5226799"/>
                  </a:lnTo>
                  <a:lnTo>
                    <a:pt x="52057" y="5238750"/>
                  </a:lnTo>
                  <a:lnTo>
                    <a:pt x="3057525" y="5238750"/>
                  </a:lnTo>
                  <a:lnTo>
                    <a:pt x="3057525" y="3914775"/>
                  </a:lnTo>
                  <a:close/>
                </a:path>
                <a:path w="10210800" h="5238750">
                  <a:moveTo>
                    <a:pt x="3057525" y="0"/>
                  </a:moveTo>
                  <a:lnTo>
                    <a:pt x="52057" y="0"/>
                  </a:lnTo>
                  <a:lnTo>
                    <a:pt x="44399" y="1511"/>
                  </a:lnTo>
                  <a:lnTo>
                    <a:pt x="11950" y="23202"/>
                  </a:lnTo>
                  <a:lnTo>
                    <a:pt x="0" y="52044"/>
                  </a:lnTo>
                  <a:lnTo>
                    <a:pt x="0" y="771525"/>
                  </a:lnTo>
                  <a:lnTo>
                    <a:pt x="3057525" y="771525"/>
                  </a:lnTo>
                  <a:lnTo>
                    <a:pt x="3057525" y="0"/>
                  </a:lnTo>
                  <a:close/>
                </a:path>
                <a:path w="10210800" h="5238750">
                  <a:moveTo>
                    <a:pt x="10210800" y="3914775"/>
                  </a:moveTo>
                  <a:lnTo>
                    <a:pt x="8172450" y="3914775"/>
                  </a:lnTo>
                  <a:lnTo>
                    <a:pt x="8172450" y="5238750"/>
                  </a:lnTo>
                  <a:lnTo>
                    <a:pt x="10158755" y="5238750"/>
                  </a:lnTo>
                  <a:lnTo>
                    <a:pt x="10166413" y="5237226"/>
                  </a:lnTo>
                  <a:lnTo>
                    <a:pt x="10198849" y="5215547"/>
                  </a:lnTo>
                  <a:lnTo>
                    <a:pt x="10210800" y="5186692"/>
                  </a:lnTo>
                  <a:lnTo>
                    <a:pt x="10210800" y="3914775"/>
                  </a:lnTo>
                  <a:close/>
                </a:path>
                <a:path w="10210800" h="5238750">
                  <a:moveTo>
                    <a:pt x="10210800" y="52044"/>
                  </a:moveTo>
                  <a:lnTo>
                    <a:pt x="10187597" y="11938"/>
                  </a:lnTo>
                  <a:lnTo>
                    <a:pt x="10158755" y="0"/>
                  </a:lnTo>
                  <a:lnTo>
                    <a:pt x="8172450" y="0"/>
                  </a:lnTo>
                  <a:lnTo>
                    <a:pt x="8172450" y="771525"/>
                  </a:lnTo>
                  <a:lnTo>
                    <a:pt x="10210800" y="771525"/>
                  </a:lnTo>
                  <a:lnTo>
                    <a:pt x="10210800" y="520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87" y="1362087"/>
              <a:ext cx="10210800" cy="771525"/>
            </a:xfrm>
            <a:custGeom>
              <a:avLst/>
              <a:gdLst/>
              <a:ahLst/>
              <a:cxnLst/>
              <a:rect l="l" t="t" r="r" b="b"/>
              <a:pathLst>
                <a:path w="10210800" h="771525">
                  <a:moveTo>
                    <a:pt x="3057525" y="0"/>
                  </a:moveTo>
                  <a:lnTo>
                    <a:pt x="56070" y="0"/>
                  </a:lnTo>
                  <a:lnTo>
                    <a:pt x="52171" y="381"/>
                  </a:lnTo>
                  <a:lnTo>
                    <a:pt x="14795" y="20358"/>
                  </a:lnTo>
                  <a:lnTo>
                    <a:pt x="0" y="56057"/>
                  </a:lnTo>
                  <a:lnTo>
                    <a:pt x="0" y="771525"/>
                  </a:lnTo>
                  <a:lnTo>
                    <a:pt x="3057525" y="771525"/>
                  </a:lnTo>
                  <a:lnTo>
                    <a:pt x="3057525" y="0"/>
                  </a:lnTo>
                  <a:close/>
                </a:path>
                <a:path w="10210800" h="771525">
                  <a:moveTo>
                    <a:pt x="10210800" y="56057"/>
                  </a:moveTo>
                  <a:lnTo>
                    <a:pt x="10196017" y="20358"/>
                  </a:lnTo>
                  <a:lnTo>
                    <a:pt x="10158641" y="381"/>
                  </a:lnTo>
                  <a:lnTo>
                    <a:pt x="10154742" y="0"/>
                  </a:lnTo>
                  <a:lnTo>
                    <a:pt x="8172450" y="0"/>
                  </a:lnTo>
                  <a:lnTo>
                    <a:pt x="8172450" y="771525"/>
                  </a:lnTo>
                  <a:lnTo>
                    <a:pt x="10210800" y="771525"/>
                  </a:lnTo>
                  <a:lnTo>
                    <a:pt x="10210800" y="56057"/>
                  </a:lnTo>
                  <a:close/>
                </a:path>
              </a:pathLst>
            </a:custGeom>
            <a:solidFill>
              <a:srgbClr val="E1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9599" y="1362075"/>
          <a:ext cx="10210799" cy="5236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Research</a:t>
                      </a:r>
                      <a:r>
                        <a:rPr sz="1350" b="1" spc="13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FFA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sz="1350" b="1" spc="-3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Focus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E1C2C2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Limitation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E1C2C2"/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18465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sz="1350" b="1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Proposed</a:t>
                      </a:r>
                      <a:r>
                        <a:rPr sz="1350" b="1" spc="15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55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System </a:t>
                      </a:r>
                      <a:r>
                        <a:rPr sz="1350" b="1" spc="-10" dirty="0">
                          <a:solidFill>
                            <a:srgbClr val="262525"/>
                          </a:solidFill>
                          <a:latin typeface="Trebuchet MS"/>
                          <a:cs typeface="Trebuchet MS"/>
                        </a:rPr>
                        <a:t>Advantage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FFFAF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11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Hospital</a:t>
                      </a:r>
                      <a:r>
                        <a:rPr sz="1350" spc="9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7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Bed</a:t>
                      </a:r>
                      <a:r>
                        <a:rPr sz="1350" spc="9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Allocation</a:t>
                      </a:r>
                      <a:r>
                        <a:rPr sz="1350" spc="9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6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Systems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Optimizing</a:t>
                      </a:r>
                      <a:r>
                        <a:rPr sz="1350" spc="5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bed</a:t>
                      </a:r>
                      <a:r>
                        <a:rPr sz="1350" spc="6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utilization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32194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Primarily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6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350" spc="-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beds 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only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15290">
                        <a:lnSpc>
                          <a:spcPct val="131900"/>
                        </a:lnSpc>
                        <a:spcBef>
                          <a:spcPts val="53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Integrates</a:t>
                      </a:r>
                      <a:r>
                        <a:rPr sz="1350" spc="15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bed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allocation</a:t>
                      </a:r>
                      <a:r>
                        <a:rPr sz="1350" spc="-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sz="1350" spc="-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7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OR </a:t>
                      </a:r>
                      <a:r>
                        <a:rPr sz="1350" spc="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scheduling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7310" marB="0">
                    <a:lnL w="9525">
                      <a:solidFill>
                        <a:srgbClr val="FFFAF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11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Operating</a:t>
                      </a:r>
                      <a:r>
                        <a:rPr sz="1350" spc="1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Room</a:t>
                      </a:r>
                      <a:r>
                        <a:rPr sz="1350" spc="1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Scheduling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45134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spc="5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Schedule</a:t>
                      </a:r>
                      <a:r>
                        <a:rPr sz="1350" spc="-7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surgeries</a:t>
                      </a:r>
                      <a:r>
                        <a:rPr sz="1350" spc="-7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2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by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priority</a:t>
                      </a:r>
                      <a:r>
                        <a:rPr sz="1350" spc="-8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350" spc="-7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9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350" spc="-7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availability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3434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Limited</a:t>
                      </a:r>
                      <a:r>
                        <a:rPr sz="1350" spc="-1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integration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with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other</a:t>
                      </a: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hospital</a:t>
                      </a:r>
                      <a:r>
                        <a:rPr sz="1350" spc="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resources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362585">
                        <a:lnSpc>
                          <a:spcPct val="131900"/>
                        </a:lnSpc>
                        <a:spcBef>
                          <a:spcPts val="53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Coordinates</a:t>
                      </a:r>
                      <a:r>
                        <a:rPr sz="1350" spc="229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ORs,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beds,</a:t>
                      </a:r>
                      <a:r>
                        <a:rPr sz="1350" spc="-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patients,</a:t>
                      </a:r>
                      <a:r>
                        <a:rPr sz="1350" spc="-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staff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7310" marB="0">
                    <a:lnL w="9525">
                      <a:solidFill>
                        <a:srgbClr val="FFFAF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Healthcare</a:t>
                      </a:r>
                      <a:r>
                        <a:rPr sz="1350" spc="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Resource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Optimization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57912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Efficient</a:t>
                      </a:r>
                      <a:r>
                        <a:rPr sz="1350" spc="-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6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350" spc="-6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50" spc="-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limited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hospital</a:t>
                      </a:r>
                      <a:r>
                        <a:rPr sz="1350" spc="13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resources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9149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spc="9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1350" spc="-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require</a:t>
                      </a:r>
                      <a:r>
                        <a:rPr sz="1350" spc="-7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complex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optimization</a:t>
                      </a:r>
                      <a:r>
                        <a:rPr sz="1350" spc="-10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algorithms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300990">
                        <a:lnSpc>
                          <a:spcPct val="131900"/>
                        </a:lnSpc>
                        <a:spcBef>
                          <a:spcPts val="530"/>
                        </a:spcBef>
                      </a:pP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Provides</a:t>
                      </a:r>
                      <a:r>
                        <a:rPr sz="1350" spc="18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practical integrated </a:t>
                      </a: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scheduling</a:t>
                      </a:r>
                      <a:r>
                        <a:rPr sz="1350" spc="-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solution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7310" marB="0">
                    <a:lnL w="9525">
                      <a:solidFill>
                        <a:srgbClr val="FFFAF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3340">
                <a:tc>
                  <a:txBody>
                    <a:bodyPr/>
                    <a:lstStyle/>
                    <a:p>
                      <a:pPr marL="171450" marR="295910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350" spc="8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Hospital</a:t>
                      </a:r>
                      <a:r>
                        <a:rPr sz="1350" spc="1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Management </a:t>
                      </a:r>
                      <a:r>
                        <a:rPr sz="1350" spc="6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Systems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R w="9525">
                      <a:solidFill>
                        <a:srgbClr val="FFFA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165" marR="819785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sz="1350" spc="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Monitoring</a:t>
                      </a:r>
                      <a:r>
                        <a:rPr sz="1350" spc="204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hospital </a:t>
                      </a:r>
                      <a:r>
                        <a:rPr sz="1350" spc="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resources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406400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sz="1350" spc="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Monitoring</a:t>
                      </a:r>
                      <a:r>
                        <a:rPr sz="1350" spc="9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alone</a:t>
                      </a:r>
                      <a:r>
                        <a:rPr sz="1350" spc="6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doesn't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optimize</a:t>
                      </a:r>
                      <a:r>
                        <a:rPr sz="1350" spc="-10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302895">
                        <a:lnSpc>
                          <a:spcPct val="132700"/>
                        </a:lnSpc>
                        <a:spcBef>
                          <a:spcPts val="520"/>
                        </a:spcBef>
                      </a:pP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Combines</a:t>
                      </a:r>
                      <a:r>
                        <a:rPr sz="1350" spc="-4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time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monitoring</a:t>
                      </a:r>
                      <a:r>
                        <a:rPr sz="1350" spc="1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2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sz="1350" spc="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scheduling</a:t>
                      </a:r>
                      <a:r>
                        <a:rPr sz="1350" spc="-3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&amp; </a:t>
                      </a:r>
                      <a:r>
                        <a:rPr sz="135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decision</a:t>
                      </a:r>
                      <a:r>
                        <a:rPr sz="1350" spc="145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-10" dirty="0">
                          <a:solidFill>
                            <a:srgbClr val="6F655C"/>
                          </a:solidFill>
                          <a:latin typeface="Trebuchet MS"/>
                          <a:cs typeface="Trebuchet MS"/>
                        </a:rPr>
                        <a:t>support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6040" marB="0">
                    <a:lnL w="9525">
                      <a:solidFill>
                        <a:srgbClr val="FFFAF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600074" y="6800849"/>
            <a:ext cx="10229850" cy="962025"/>
            <a:chOff x="600074" y="6800849"/>
            <a:chExt cx="10229850" cy="962025"/>
          </a:xfrm>
        </p:grpSpPr>
        <p:sp>
          <p:nvSpPr>
            <p:cNvPr id="10" name="object 10"/>
            <p:cNvSpPr/>
            <p:nvPr/>
          </p:nvSpPr>
          <p:spPr>
            <a:xfrm>
              <a:off x="600074" y="6800849"/>
              <a:ext cx="10229850" cy="962025"/>
            </a:xfrm>
            <a:custGeom>
              <a:avLst/>
              <a:gdLst/>
              <a:ahLst/>
              <a:cxnLst/>
              <a:rect l="l" t="t" r="r" b="b"/>
              <a:pathLst>
                <a:path w="10229850" h="962025">
                  <a:moveTo>
                    <a:pt x="10173781" y="962024"/>
                  </a:moveTo>
                  <a:lnTo>
                    <a:pt x="56067" y="962024"/>
                  </a:lnTo>
                  <a:lnTo>
                    <a:pt x="52165" y="961640"/>
                  </a:lnTo>
                  <a:lnTo>
                    <a:pt x="14789" y="941661"/>
                  </a:lnTo>
                  <a:lnTo>
                    <a:pt x="0" y="905957"/>
                  </a:lnTo>
                  <a:lnTo>
                    <a:pt x="0" y="902017"/>
                  </a:lnTo>
                  <a:lnTo>
                    <a:pt x="0" y="56066"/>
                  </a:lnTo>
                  <a:lnTo>
                    <a:pt x="14789" y="20360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10173781" y="0"/>
                  </a:lnTo>
                  <a:lnTo>
                    <a:pt x="10209485" y="14789"/>
                  </a:lnTo>
                  <a:lnTo>
                    <a:pt x="10229464" y="52164"/>
                  </a:lnTo>
                  <a:lnTo>
                    <a:pt x="10229849" y="56066"/>
                  </a:lnTo>
                  <a:lnTo>
                    <a:pt x="10229849" y="905957"/>
                  </a:lnTo>
                  <a:lnTo>
                    <a:pt x="10215058" y="941661"/>
                  </a:lnTo>
                  <a:lnTo>
                    <a:pt x="10177682" y="961640"/>
                  </a:lnTo>
                  <a:lnTo>
                    <a:pt x="10173781" y="962024"/>
                  </a:lnTo>
                  <a:close/>
                </a:path>
              </a:pathLst>
            </a:custGeom>
            <a:solidFill>
              <a:srgbClr val="E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671" y="7049690"/>
              <a:ext cx="150018" cy="15001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20861" y="6946264"/>
            <a:ext cx="10188575" cy="12481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5940" marR="909319">
              <a:lnSpc>
                <a:spcPct val="134300"/>
              </a:lnSpc>
              <a:spcBef>
                <a:spcPts val="100"/>
              </a:spcBef>
            </a:pPr>
            <a:r>
              <a:rPr sz="1350" spc="45" dirty="0">
                <a:latin typeface="Trebuchet MS"/>
                <a:cs typeface="Trebuchet MS"/>
              </a:rPr>
              <a:t>Research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50" dirty="0">
                <a:latin typeface="Trebuchet MS"/>
                <a:cs typeface="Trebuchet MS"/>
              </a:rPr>
              <a:t>Gap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250" dirty="0">
                <a:latin typeface="Trebuchet MS"/>
                <a:cs typeface="Trebuchet MS"/>
              </a:rPr>
              <a:t>/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50" dirty="0">
                <a:latin typeface="Trebuchet MS"/>
                <a:cs typeface="Trebuchet MS"/>
              </a:rPr>
              <a:t>Proposed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Solution: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“The </a:t>
            </a:r>
            <a:r>
              <a:rPr sz="1350" spc="45" dirty="0">
                <a:latin typeface="Trebuchet MS"/>
                <a:cs typeface="Trebuchet MS"/>
              </a:rPr>
              <a:t>proposed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50" dirty="0">
                <a:latin typeface="Trebuchet MS"/>
                <a:cs typeface="Trebuchet MS"/>
              </a:rPr>
              <a:t>system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integrates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bed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management,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95" dirty="0">
                <a:latin typeface="Trebuchet MS"/>
                <a:cs typeface="Trebuchet MS"/>
              </a:rPr>
              <a:t>OR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scheduling,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patient </a:t>
            </a:r>
            <a:r>
              <a:rPr sz="1350" spc="-20" dirty="0">
                <a:latin typeface="Trebuchet MS"/>
                <a:cs typeface="Trebuchet MS"/>
              </a:rPr>
              <a:t>priorities,</a:t>
            </a:r>
            <a:r>
              <a:rPr sz="1350" spc="3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staff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availability,</a:t>
            </a:r>
            <a:r>
              <a:rPr sz="1350" spc="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and</a:t>
            </a:r>
            <a:r>
              <a:rPr sz="1350" spc="5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real-</a:t>
            </a:r>
            <a:r>
              <a:rPr sz="1350" dirty="0">
                <a:latin typeface="Trebuchet MS"/>
                <a:cs typeface="Trebuchet MS"/>
              </a:rPr>
              <a:t>time</a:t>
            </a:r>
            <a:r>
              <a:rPr sz="1350" spc="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monitoring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into</a:t>
            </a:r>
            <a:r>
              <a:rPr sz="1350" spc="3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a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unified</a:t>
            </a:r>
            <a:r>
              <a:rPr sz="1350" spc="5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hospital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resource</a:t>
            </a:r>
            <a:r>
              <a:rPr sz="1350" spc="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management</a:t>
            </a:r>
            <a:r>
              <a:rPr sz="1350" spc="5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platform.”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4490720" marR="5080" indent="-4478655">
              <a:lnSpc>
                <a:spcPct val="134300"/>
              </a:lnSpc>
            </a:pPr>
            <a:r>
              <a:rPr sz="1350" spc="-10" dirty="0">
                <a:solidFill>
                  <a:srgbClr val="6F655C"/>
                </a:solidFill>
                <a:latin typeface="Trebuchet MS"/>
                <a:cs typeface="Trebuchet MS"/>
              </a:rPr>
              <a:t>.</a:t>
            </a:r>
            <a:endParaRPr sz="1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543</Words>
  <Application>Microsoft Office PowerPoint</Application>
  <PresentationFormat>Custom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PMingLiU-ExtB</vt:lpstr>
      <vt:lpstr>Cambria</vt:lpstr>
      <vt:lpstr>Lucida Sans Unicode</vt:lpstr>
      <vt:lpstr>Trebuchet MS</vt:lpstr>
      <vt:lpstr>Office Theme</vt:lpstr>
      <vt:lpstr>PowerPoint Presentation</vt:lpstr>
      <vt:lpstr>Introduction</vt:lpstr>
      <vt:lpstr>Abstract (Key Points)</vt:lpstr>
      <vt:lpstr>Software Requirements</vt:lpstr>
      <vt:lpstr>Hardware Requirements</vt:lpstr>
      <vt:lpstr>Methodology — Workflow P Decision Logic</vt:lpstr>
      <vt:lpstr>Literature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SHANTHI SWAROOP</cp:lastModifiedBy>
  <cp:revision>2</cp:revision>
  <dcterms:created xsi:type="dcterms:W3CDTF">2026-08-18T03:03:46Z</dcterms:created>
  <dcterms:modified xsi:type="dcterms:W3CDTF">2026-08-18T03:32:14Z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2026-08-18T00:00:00Z</vt:filetime>
  </property>
  <property fmtid="{D5CDD505-2E9C-101B-9397-08002B2CF9AE}" pid="6" name="Producer">
    <vt:lpwstr>pdf-lib (https://github.com/Hopding/pdf-lib)</vt:lpwstr>
  </property>
</Properties>
</file>